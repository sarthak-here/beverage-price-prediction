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64500f291d4d9f" /><Relationship Type="http://schemas.openxmlformats.org/officeDocument/2006/relationships/extended-properties" Target="/docProps/app.xml" Id="Rf47056155e044d01" /><Relationship Type="http://schemas.openxmlformats.org/officeDocument/2006/relationships/officeDocument" Target="/ppt/presentation.xml" Id="R7675b10758754123" /></Relationships>
</file>

<file path=ppt/presentation.xml><?xml version="1.0" encoding="utf-8"?>
<p:presentation xmlns:p="http://schemas.openxmlformats.org/presentationml/2006/main">
  <p:sldMasterIdLst>
    <p:sldMasterId xmlns:r="http://schemas.openxmlformats.org/officeDocument/2006/relationships" id="2147483648" r:id="Rc4506a546b2144a5"/>
  </p:sldMasterIdLst>
  <p:notesMasterIdLst>
    <p:notesMasterId xmlns:r="http://schemas.openxmlformats.org/officeDocument/2006/relationships" r:id="Re56a1a14d4004c1d"/>
  </p:notesMasterIdLst>
  <p:sldIdLst>
    <p:sldId xmlns:r="http://schemas.openxmlformats.org/officeDocument/2006/relationships" id="256" r:id="R4eee75f18fa34a5b"/>
    <p:sldId xmlns:r="http://schemas.openxmlformats.org/officeDocument/2006/relationships" id="257" r:id="Rc23b934555e64e15"/>
    <p:sldId xmlns:r="http://schemas.openxmlformats.org/officeDocument/2006/relationships" id="258" r:id="Rf566257b03c7481c"/>
    <p:sldId xmlns:r="http://schemas.openxmlformats.org/officeDocument/2006/relationships" id="259" r:id="R83e53ff58a114052"/>
    <p:sldId xmlns:r="http://schemas.openxmlformats.org/officeDocument/2006/relationships" id="260" r:id="R43619309e5934a15"/>
    <p:sldId xmlns:r="http://schemas.openxmlformats.org/officeDocument/2006/relationships" id="261" r:id="R07761d7e8da146ca"/>
    <p:sldId xmlns:r="http://schemas.openxmlformats.org/officeDocument/2006/relationships" id="262" r:id="Rd60404861b4e40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8a51a9aaf0439d" /><Relationship Type="http://schemas.openxmlformats.org/officeDocument/2006/relationships/slideMaster" Target="/ppt/slideMasters/slideMaster1.xml" Id="Rc4506a546b2144a5" /><Relationship Type="http://schemas.openxmlformats.org/officeDocument/2006/relationships/notesMaster" Target="/ppt/notesMasters/notesMaster1.xml" Id="Re56a1a14d4004c1d" /><Relationship Type="http://schemas.openxmlformats.org/officeDocument/2006/relationships/presProps" Target="/ppt/presProps.xml" Id="R2c78cadfabd44df2" /><Relationship Type="http://schemas.openxmlformats.org/officeDocument/2006/relationships/tableStyles" Target="/ppt/tableStyles.xml" Id="Rdc25c1d3c77a4f19" /><Relationship Type="http://schemas.openxmlformats.org/officeDocument/2006/relationships/slide" Target="/ppt/slides/slide1.xml" Id="R4eee75f18fa34a5b" /><Relationship Type="http://schemas.openxmlformats.org/officeDocument/2006/relationships/slide" Target="/ppt/slides/slide2.xml" Id="Rc23b934555e64e15" /><Relationship Type="http://schemas.openxmlformats.org/officeDocument/2006/relationships/slide" Target="/ppt/slides/slide3.xml" Id="Rf566257b03c7481c" /><Relationship Type="http://schemas.openxmlformats.org/officeDocument/2006/relationships/slide" Target="/ppt/slides/slide4.xml" Id="R83e53ff58a114052" /><Relationship Type="http://schemas.openxmlformats.org/officeDocument/2006/relationships/slide" Target="/ppt/slides/slide5.xml" Id="R43619309e5934a15" /><Relationship Type="http://schemas.openxmlformats.org/officeDocument/2006/relationships/slide" Target="/ppt/slides/slide6.xml" Id="R07761d7e8da146ca" /><Relationship Type="http://schemas.openxmlformats.org/officeDocument/2006/relationships/slide" Target="/ppt/slides/slide7.xml" Id="Rd60404861b4e40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625001d3bc4e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3fa27d7e784a7a" /><Relationship Type="http://schemas.openxmlformats.org/officeDocument/2006/relationships/notesMaster" Target="/ppt/notesMasters/notesMaster1.xml" Id="R469c05be54b349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58b483953341b5" /><Relationship Type="http://schemas.openxmlformats.org/officeDocument/2006/relationships/notesMaster" Target="/ppt/notesMasters/notesMaster1.xml" Id="Rea93ba5fca8549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1822c49e08489e" /><Relationship Type="http://schemas.openxmlformats.org/officeDocument/2006/relationships/notesMaster" Target="/ppt/notesMasters/notesMaster1.xml" Id="R7a5c3e45cad84d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8b015227a64fe6" /><Relationship Type="http://schemas.openxmlformats.org/officeDocument/2006/relationships/notesMaster" Target="/ppt/notesMasters/notesMaster1.xml" Id="Rfb842c921cca42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fcf75b10644f3f" /><Relationship Type="http://schemas.openxmlformats.org/officeDocument/2006/relationships/notesMaster" Target="/ppt/notesMasters/notesMaster1.xml" Id="R4ecaa7f5ece94c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e5506220154677" /><Relationship Type="http://schemas.openxmlformats.org/officeDocument/2006/relationships/notesMaster" Target="/ppt/notesMasters/notesMaster1.xml" Id="Rf9f3dc98968347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5128af4bf04450" /><Relationship Type="http://schemas.openxmlformats.org/officeDocument/2006/relationships/notesMaster" Target="/ppt/notesMasters/notesMaster1.xml" Id="R76636859ba5645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and thank you for your time. Today I will present a pricing decision tool built from customer survey data. The purpose of this work is simple: help the business estimate the price range a customer is most likely to accept, based on who they are and how they buy beverages.</a:t>
            </a:r>
          </a:p>
          <a:p xmlns:a="http://schemas.openxmlformats.org/drawingml/2006/main">
            <a:r>
              <a:t/>
            </a:r>
          </a:p>
          <a:p xmlns:a="http://schemas.openxmlformats.org/drawingml/2006/main">
            <a:r>
              <a:t>The final solution converts a customer profile into one of four price bands and gives the business a practical recommendation for positioning that offer.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business question was: how can we recommend a price range without treating every customer in the same way?</a:t>
            </a:r>
          </a:p>
          <a:p xmlns:a="http://schemas.openxmlformats.org/drawingml/2006/main">
            <a:r>
              <a:t/>
            </a:r>
          </a:p>
          <a:p xmlns:a="http://schemas.openxmlformats.org/drawingml/2006/main">
            <a:r>
              <a:t>Customers differ in income, location, buying frequency, brand preference, health concerns, packaging preference, and where they shop. A single price for every type of customer can leave money on the table for premium buyers, while making the product too expensive for value-focused buyers.</a:t>
            </a:r>
          </a:p>
          <a:p xmlns:a="http://schemas.openxmlformats.org/drawingml/2006/main">
            <a:r>
              <a:t/>
            </a:r>
          </a:p>
          <a:p xmlns:a="http://schemas.openxmlformats.org/drawingml/2006/main">
            <a:r>
              <a:t>The project uses these differences to support more relevant pricing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starting point was the customer survey. Before using it, I removed duplicate records, corrected inconsistent labels, filled missing values, and removed combinations that did not make business sense.</a:t>
            </a:r>
          </a:p>
          <a:p xmlns:a="http://schemas.openxmlformats.org/drawingml/2006/main">
            <a:r>
              <a:t/>
            </a:r>
          </a:p>
          <a:p xmlns:a="http://schemas.openxmlformats.org/drawingml/2006/main">
            <a:r>
              <a:t>I then converted the survey into useful customer signals. These include the customer’s age segment, buying power, consumption and brand awareness, and willingness to switch brands.</a:t>
            </a:r>
          </a:p>
          <a:p xmlns:a="http://schemas.openxmlformats.org/drawingml/2006/main">
            <a:r>
              <a:t/>
            </a:r>
          </a:p>
          <a:p xmlns:a="http://schemas.openxmlformats.org/drawingml/2006/main">
            <a:r>
              <a:t>The final dataset contained 29,956 usable customer records. Each profile was connected to one of four price bands, ranging from 50 to 250 rupees.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gives the business more than a predicted number. It produces a recommended price band, a confidence level, the probability of each alternative price band, and a suggested pricing action.</a:t>
            </a:r>
          </a:p>
          <a:p xmlns:a="http://schemas.openxmlformats.org/drawingml/2006/main">
            <a:r>
              <a:t/>
            </a:r>
          </a:p>
          <a:p xmlns:a="http://schemas.openxmlformats.org/drawingml/2006/main">
            <a:r>
              <a:t>For example, a customer predicted in the 100 to 150 rupee range can be positioned as an everyday upgrade. A customer in the 200 to 250 rupee range should receive premium messaging, stronger packaging cues, and placement in higher-value channels.</a:t>
            </a:r>
          </a:p>
          <a:p xmlns:a="http://schemas.openxmlformats.org/drawingml/2006/main">
            <a:r>
              <a:t/>
            </a:r>
          </a:p>
          <a:p xmlns:a="http://schemas.openxmlformats.org/drawingml/2006/main">
            <a:r>
              <a:t>This makes the output easier for sales and marketing teams to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six different prediction approaches using the same training and test data. XGBoost produced the best result with 92.26 percent test accuracy. LightGBM was very close at 92.16 percent, while Random Forest reached 89.02 percent.</a:t>
            </a:r>
          </a:p>
          <a:p xmlns:a="http://schemas.openxmlformats.org/drawingml/2006/main">
            <a:r>
              <a:t/>
            </a:r>
          </a:p>
          <a:p xmlns:a="http://schemas.openxmlformats.org/drawingml/2006/main">
            <a:r>
              <a:t>I selected XGBoost for the application because it gave the strongest result on unseen test records. The full comparison remains available for review, so the choice is transparent rather than based on a single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application allows a business user to enter a customer profile without working with code. The user selects factors such as age, income, location, consumption frequency, current brand, preferred size, purchase channel, and health concern.</a:t>
            </a:r>
          </a:p>
          <a:p xmlns:a="http://schemas.openxmlformats.org/drawingml/2006/main">
            <a:r>
              <a:t/>
            </a:r>
          </a:p>
          <a:p xmlns:a="http://schemas.openxmlformats.org/drawingml/2006/main">
            <a:r>
              <a:t>The application immediately returns the recommended price band, decision confidence, the other possible price ranges, and a suggested action. This allows a team to test different customer scenarios during planning discussions.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recommend using this tool first as decision support for pricing and campaign planning. The business can use it to compare customer segments, tailor promotional offers, and decide which price message fits each group.</a:t>
            </a:r>
          </a:p>
          <a:p xmlns:a="http://schemas.openxmlformats.org/drawingml/2006/main">
            <a:r>
              <a:t/>
            </a:r>
          </a:p>
          <a:p xmlns:a="http://schemas.openxmlformats.org/drawingml/2006/main">
            <a:r>
              <a:t>Before using it for a full market launch, the team should test the recommendations in a controlled campaign and compare predicted price acceptance with actual purchases. New sales results can then be used to refresh the model over time.</a:t>
            </a:r>
          </a:p>
          <a:p xmlns:a="http://schemas.openxmlformats.org/drawingml/2006/main">
            <a:r>
              <a:t/>
            </a:r>
          </a:p>
          <a:p xmlns:a="http://schemas.openxmlformats.org/drawingml/2006/main">
            <a:r>
              <a:t>To conclude, this project turns customer survey data into a clear pricing recommendation that a business team can use. Thank you. I am happy to answer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f6d3b4fef74a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d6823ad3324a8e" /><Relationship Type="http://schemas.openxmlformats.org/officeDocument/2006/relationships/slideLayout" Target="/ppt/slideLayouts/slideLayout1.xml" Id="R717f4fe97aa443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7f4fe97aa443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7c729a34b0466e" /><Relationship Type="http://schemas.openxmlformats.org/officeDocument/2006/relationships/notesSlide" Target="/ppt/notesSlides/notesSlide1.xml" Id="R5558fca5d23b44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f8f372dc344dfa" /><Relationship Type="http://schemas.openxmlformats.org/officeDocument/2006/relationships/notesSlide" Target="/ppt/notesSlides/notesSlide2.xml" Id="Ra046f7c99b4b45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293d7cfbe7429e" /><Relationship Type="http://schemas.openxmlformats.org/officeDocument/2006/relationships/notesSlide" Target="/ppt/notesSlides/notesSlide3.xml" Id="R51a8100f9b3d43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dae84fdb9d4c09" /><Relationship Type="http://schemas.openxmlformats.org/officeDocument/2006/relationships/notesSlide" Target="/ppt/notesSlides/notesSlide4.xml" Id="Rb550e536d9c542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d0d92c4ce54eb1" /><Relationship Type="http://schemas.openxmlformats.org/officeDocument/2006/relationships/chart" Target="/ppt/slides/charts/chart1.xml" Id="R6bdb3907b8924e34" /><Relationship Type="http://schemas.openxmlformats.org/officeDocument/2006/relationships/notesSlide" Target="/ppt/notesSlides/notesSlide5.xml" Id="Raa8bbafc98cd4e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56fe53ec8445f5" /><Relationship Type="http://schemas.openxmlformats.org/officeDocument/2006/relationships/notesSlide" Target="/ppt/notesSlides/notesSlide6.xml" Id="Rf7270e7a5aa645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4759105b984359" /><Relationship Type="http://schemas.openxmlformats.org/officeDocument/2006/relationships/notesSlide" Target="/ppt/notesSlides/notesSlide7.xml" Id="Rf47e626becec47a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Test accuracy</c:v>
          </c:tx>
          <c:spPr>
            <a:solidFill xmlns:a="http://schemas.openxmlformats.org/drawingml/2006/main">
              <a:srgbClr val="37DDF5"/>
            </a:solidFill>
          </c:spPr>
          <c:cat>
            <c:strRef>
              <c:f>'Chart Data'!$A$2:$A$7</c:f>
              <c:strCache>
                <c:ptCount val="6"/>
                <c:pt idx="0">
                  <c:v>Gaussian NB</c:v>
                </c:pt>
                <c:pt idx="1">
                  <c:v>Logistic regression</c:v>
                </c:pt>
                <c:pt idx="2">
                  <c:v>SVM</c:v>
                </c:pt>
                <c:pt idx="3">
                  <c:v>Random forest</c:v>
                </c:pt>
                <c:pt idx="4">
                  <c:v>LightGBM</c:v>
                </c:pt>
                <c:pt idx="5">
                  <c:v>XGBoost</c:v>
                </c:pt>
              </c:strCache>
            </c:strRef>
          </c:cat>
          <c:val>
            <c:numRef>
              <c:f>'Chart Data'!$B$2:$B$7</c:f>
              <c:numCache>
                <c:formatCode>General</c:formatCode>
                <c:ptCount val="6"/>
                <c:pt idx="0">
                  <c:v>58.31</c:v>
                </c:pt>
                <c:pt idx="1">
                  <c:v>80.06</c:v>
                </c:pt>
                <c:pt idx="2">
                  <c:v>82.45</c:v>
                </c:pt>
                <c:pt idx="3">
                  <c:v>89.02</c:v>
                </c:pt>
                <c:pt idx="4">
                  <c:v>92.16</c:v>
                </c:pt>
                <c:pt idx="5">
                  <c:v>92.26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FDF533-C3ED-4132-920F-ADE07EAEAB47}"/>
              </a:ext>
            </a:extLst>
          </p:cNvPr>
          <p:cNvSpPr>
            <a:spLocks xmlns:a="http://schemas.openxmlformats.org/drawingml/2006/main" noGrp="1"/>
          </p:cNvSpPr>
          <p:nvPr/>
        </p:nvSpPr>
        <p:spPr>
          <a:xfrm xmlns:a="http://schemas.openxmlformats.org/drawingml/2006/main">
            <a:off x="742950" y="8382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37DDF5"/>
                </a:solidFill>
                <a:latin typeface="Arial"/>
                <a:ea typeface="Arial"/>
                <a:cs typeface="Arial"/>
              </a:defRPr>
            </a:pPr>
            <a:r>
              <a:rPr sz="1125" b="1">
                <a:solidFill>
                  <a:srgbClr val="37DDF5"/>
                </a:solidFill>
                <a:latin typeface="Arial"/>
                <a:ea typeface="Arial"/>
                <a:cs typeface="Arial"/>
              </a:rPr>
              <a:t>CUSTOMER PRICING DECISION SUPPORT</a:t>
            </a:r>
          </a:p>
        </p:txBody>
      </p:sp>
      <p:sp>
        <p:nvSpPr>
          <p:cNvPr id="2" name="">
            <a:extLst xmlns:a="http://schemas.openxmlformats.org/drawingml/2006/main">
              <a:ext uri="{FF2B5EF4-FFF2-40B4-BE49-F238E27FC236}">
                <a16:creationId xmlns:a16="http://schemas.microsoft.com/office/drawing/2014/main" id="{B11E483F-44CE-4EDC-9499-C6C4C9E5854D}"/>
              </a:ext>
            </a:extLst>
          </p:cNvPr>
          <p:cNvSpPr>
            <a:spLocks xmlns:a="http://schemas.openxmlformats.org/drawingml/2006/main" noGrp="1"/>
          </p:cNvSpPr>
          <p:nvPr/>
        </p:nvSpPr>
        <p:spPr>
          <a:xfrm xmlns:a="http://schemas.openxmlformats.org/drawingml/2006/main">
            <a:off x="723900" y="146685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4F8FC"/>
                </a:solidFill>
                <a:latin typeface="Arial"/>
                <a:ea typeface="Arial"/>
                <a:cs typeface="Arial"/>
              </a:defRPr>
            </a:pPr>
            <a:r>
              <a:rPr sz="4350" b="1">
                <a:solidFill>
                  <a:srgbClr val="F4F8FC"/>
                </a:solidFill>
                <a:latin typeface="Arial"/>
                <a:ea typeface="Arial"/>
                <a:cs typeface="Arial"/>
              </a:rPr>
              <a:t>Beverage price</a:t>
            </a:r>
          </a:p>
          <a:p xmlns:a="http://schemas.openxmlformats.org/drawingml/2006/main">
            <a:pPr>
              <a:defRPr sz="4350" b="1">
                <a:solidFill>
                  <a:srgbClr val="F4F8FC"/>
                </a:solidFill>
                <a:latin typeface="Arial"/>
                <a:ea typeface="Arial"/>
                <a:cs typeface="Arial"/>
              </a:defRPr>
            </a:pPr>
            <a:r>
              <a:rPr sz="4350" b="1">
                <a:solidFill>
                  <a:srgbClr val="F4F8FC"/>
                </a:solidFill>
                <a:latin typeface="Arial"/>
                <a:ea typeface="Arial"/>
                <a:cs typeface="Arial"/>
              </a:rPr>
              <a:t>prediction</a:t>
            </a:r>
          </a:p>
        </p:txBody>
      </p:sp>
      <p:sp>
        <p:nvSpPr>
          <p:cNvPr id="3" name="">
            <a:extLst xmlns:a="http://schemas.openxmlformats.org/drawingml/2006/main">
              <a:ext uri="{FF2B5EF4-FFF2-40B4-BE49-F238E27FC236}">
                <a16:creationId xmlns:a16="http://schemas.microsoft.com/office/drawing/2014/main" id="{B57F6161-3223-470B-A355-5B4CC9339BA4}"/>
              </a:ext>
            </a:extLst>
          </p:cNvPr>
          <p:cNvSpPr>
            <a:spLocks xmlns:a="http://schemas.openxmlformats.org/drawingml/2006/main" noGrp="1"/>
          </p:cNvSpPr>
          <p:nvPr/>
        </p:nvSpPr>
        <p:spPr>
          <a:xfrm xmlns:a="http://schemas.openxmlformats.org/drawingml/2006/main">
            <a:off x="762000" y="3619500"/>
            <a:ext cx="676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93A7BC"/>
                </a:solidFill>
                <a:latin typeface="Arial"/>
                <a:ea typeface="Arial"/>
                <a:cs typeface="Arial"/>
              </a:defRPr>
            </a:pPr>
            <a:r>
              <a:rPr sz="1800" b="0">
                <a:solidFill>
                  <a:srgbClr val="93A7BC"/>
                </a:solidFill>
                <a:latin typeface="Arial"/>
                <a:ea typeface="Arial"/>
                <a:cs typeface="Arial"/>
              </a:rPr>
              <a:t>A practical way to match customer profiles with the price range they are most likely to accept</a:t>
            </a:r>
          </a:p>
        </p:txBody>
      </p:sp>
      <p:sp>
        <p:nvSpPr>
          <p:cNvPr id="4" name="">
            <a:extLst xmlns:a="http://schemas.openxmlformats.org/drawingml/2006/main">
              <a:ext uri="{FF2B5EF4-FFF2-40B4-BE49-F238E27FC236}">
                <a16:creationId xmlns:a16="http://schemas.microsoft.com/office/drawing/2014/main" id="{28F16178-7E8B-4C88-853C-5B51C5E003D8}"/>
              </a:ext>
            </a:extLst>
          </p:cNvPr>
          <p:cNvSpPr>
            <a:spLocks xmlns:a="http://schemas.openxmlformats.org/drawingml/2006/main" noGrp="1"/>
          </p:cNvSpPr>
          <p:nvPr/>
        </p:nvSpPr>
        <p:spPr>
          <a:xfrm xmlns:a="http://schemas.openxmlformats.org/drawingml/2006/main">
            <a:off x="7810500" y="16192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9C82F5"/>
                </a:solidFill>
                <a:latin typeface="Arial"/>
                <a:ea typeface="Arial"/>
                <a:cs typeface="Arial"/>
              </a:defRPr>
            </a:pPr>
            <a:r>
              <a:rPr sz="1425" b="1">
                <a:solidFill>
                  <a:srgbClr val="9C82F5"/>
                </a:solidFill>
                <a:latin typeface="Arial"/>
                <a:ea typeface="Arial"/>
                <a:cs typeface="Arial"/>
              </a:rPr>
              <a:t>Four price bands</a:t>
            </a:r>
          </a:p>
        </p:txBody>
      </p:sp>
      <p:sp>
        <p:nvSpPr>
          <p:cNvPr id="5" name="">
            <a:extLst xmlns:a="http://schemas.openxmlformats.org/drawingml/2006/main">
              <a:ext uri="{FF2B5EF4-FFF2-40B4-BE49-F238E27FC236}">
                <a16:creationId xmlns:a16="http://schemas.microsoft.com/office/drawing/2014/main" id="{40EF962F-1490-400B-9797-377EA00DC932}"/>
              </a:ext>
            </a:extLst>
          </p:cNvPr>
          <p:cNvSpPr>
            <a:spLocks xmlns:a="http://schemas.openxmlformats.org/drawingml/2006/main" noGrp="1"/>
          </p:cNvSpPr>
          <p:nvPr/>
        </p:nvSpPr>
        <p:spPr>
          <a:xfrm xmlns:a="http://schemas.openxmlformats.org/drawingml/2006/main">
            <a:off x="7810500" y="2095500"/>
            <a:ext cx="3238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4F8FC"/>
                </a:solidFill>
                <a:latin typeface="Arial"/>
                <a:ea typeface="Arial"/>
                <a:cs typeface="Arial"/>
              </a:defRPr>
            </a:pPr>
            <a:r>
              <a:rPr sz="2400" b="1">
                <a:solidFill>
                  <a:srgbClr val="F4F8FC"/>
                </a:solidFill>
                <a:latin typeface="Arial"/>
                <a:ea typeface="Arial"/>
                <a:cs typeface="Arial"/>
              </a:rPr>
              <a:t>₹50–100</a:t>
            </a:r>
          </a:p>
          <a:p xmlns:a="http://schemas.openxmlformats.org/drawingml/2006/main">
            <a:pPr>
              <a:defRPr sz="2400" b="1">
                <a:solidFill>
                  <a:srgbClr val="F4F8FC"/>
                </a:solidFill>
                <a:latin typeface="Arial"/>
                <a:ea typeface="Arial"/>
                <a:cs typeface="Arial"/>
              </a:defRPr>
            </a:pPr>
            <a:r>
              <a:rPr sz="2400" b="1">
                <a:solidFill>
                  <a:srgbClr val="F4F8FC"/>
                </a:solidFill>
                <a:latin typeface="Arial"/>
                <a:ea typeface="Arial"/>
                <a:cs typeface="Arial"/>
              </a:rPr>
              <a:t>₹100–150</a:t>
            </a:r>
          </a:p>
          <a:p xmlns:a="http://schemas.openxmlformats.org/drawingml/2006/main">
            <a:pPr>
              <a:defRPr sz="2400" b="1">
                <a:solidFill>
                  <a:srgbClr val="F4F8FC"/>
                </a:solidFill>
                <a:latin typeface="Arial"/>
                <a:ea typeface="Arial"/>
                <a:cs typeface="Arial"/>
              </a:defRPr>
            </a:pPr>
            <a:r>
              <a:rPr sz="2400" b="1">
                <a:solidFill>
                  <a:srgbClr val="F4F8FC"/>
                </a:solidFill>
                <a:latin typeface="Arial"/>
                <a:ea typeface="Arial"/>
                <a:cs typeface="Arial"/>
              </a:rPr>
              <a:t>₹150–200</a:t>
            </a:r>
          </a:p>
          <a:p xmlns:a="http://schemas.openxmlformats.org/drawingml/2006/main">
            <a:pPr>
              <a:defRPr sz="2400" b="1">
                <a:solidFill>
                  <a:srgbClr val="F4F8FC"/>
                </a:solidFill>
                <a:latin typeface="Arial"/>
                <a:ea typeface="Arial"/>
                <a:cs typeface="Arial"/>
              </a:defRPr>
            </a:pPr>
            <a:r>
              <a:rPr sz="2400" b="1">
                <a:solidFill>
                  <a:srgbClr val="F4F8FC"/>
                </a:solidFill>
                <a:latin typeface="Arial"/>
                <a:ea typeface="Arial"/>
                <a:cs typeface="Arial"/>
              </a:rPr>
              <a:t>₹200–250</a:t>
            </a:r>
          </a:p>
        </p:txBody>
      </p:sp>
      <p:sp>
        <p:nvSpPr>
          <p:cNvPr id="6" name="">
            <a:extLst xmlns:a="http://schemas.openxmlformats.org/drawingml/2006/main">
              <a:ext uri="{FF2B5EF4-FFF2-40B4-BE49-F238E27FC236}">
                <a16:creationId xmlns:a16="http://schemas.microsoft.com/office/drawing/2014/main" id="{EAA75241-9E80-4688-97CE-23DD3F888B5C}"/>
              </a:ext>
            </a:extLst>
          </p:cNvPr>
          <p:cNvSpPr>
            <a:spLocks xmlns:a="http://schemas.openxmlformats.org/drawingml/2006/main" noGrp="1"/>
          </p:cNvSpPr>
          <p:nvPr/>
        </p:nvSpPr>
        <p:spPr>
          <a:xfrm xmlns:a="http://schemas.openxmlformats.org/drawingml/2006/main">
            <a:off x="762000" y="60483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0">
                <a:solidFill>
                  <a:srgbClr val="60778F"/>
                </a:solidFill>
                <a:latin typeface="Arial"/>
                <a:ea typeface="Arial"/>
                <a:cs typeface="Arial"/>
              </a:defRPr>
            </a:pPr>
            <a:r>
              <a:rPr sz="1050" b="0">
                <a:solidFill>
                  <a:srgbClr val="60778F"/>
                </a:solidFill>
                <a:latin typeface="Arial"/>
                <a:ea typeface="Arial"/>
                <a:cs typeface="Arial"/>
              </a:rPr>
              <a:t>Client presentation</a:t>
            </a:r>
          </a:p>
        </p:txBody>
      </p:sp>
    </p:spTree>
    <p:extLst>
      <p:ext uri="{BB962C8B-B14F-4D97-AF65-F5344CB8AC3E}">
        <p14:creationId xmlns:p14="http://schemas.microsoft.com/office/powerpoint/2010/main" val="1756990829"/>
      </p:ext>
    </p:extLst>
  </p:cSld>
</p:sld>
</file>

<file path=ppt/slides/slide2.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24D4791-E28A-42F9-9D6D-3A9992BFF9B6}"/>
              </a:ext>
            </a:extLst>
          </p:cNvPr>
          <p:cNvSpPr>
            <a:spLocks xmlns:a="http://schemas.openxmlformats.org/drawingml/2006/main" noGrp="1"/>
          </p:cNvSpPr>
          <p:nvPr/>
        </p:nvSpPr>
        <p:spPr>
          <a:xfrm xmlns:a="http://schemas.openxmlformats.org/drawingml/2006/main">
            <a:off x="685800" y="40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37DDF5"/>
                </a:solidFill>
                <a:latin typeface="Arial"/>
                <a:ea typeface="Arial"/>
                <a:cs typeface="Arial"/>
              </a:defRPr>
            </a:pPr>
            <a:r>
              <a:rPr sz="1200" b="1">
                <a:solidFill>
                  <a:srgbClr val="37DDF5"/>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0F9E7F12-6B2E-4DF4-9263-D4BF1BF42628}"/>
              </a:ext>
            </a:extLst>
          </p:cNvPr>
          <p:cNvSpPr>
            <a:spLocks xmlns:a="http://schemas.openxmlformats.org/drawingml/2006/main" noGrp="1"/>
          </p:cNvSpPr>
          <p:nvPr/>
        </p:nvSpPr>
        <p:spPr>
          <a:xfrm xmlns:a="http://schemas.openxmlformats.org/drawingml/2006/main">
            <a:off x="685800" y="809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4F8FC"/>
                </a:solidFill>
                <a:latin typeface="Arial"/>
                <a:ea typeface="Arial"/>
                <a:cs typeface="Arial"/>
              </a:defRPr>
            </a:pPr>
            <a:r>
              <a:rPr sz="2850" b="1">
                <a:solidFill>
                  <a:srgbClr val="F4F8FC"/>
                </a:solidFill>
                <a:latin typeface="Arial"/>
                <a:ea typeface="Arial"/>
                <a:cs typeface="Arial"/>
              </a:rPr>
              <a:t>The business question</a:t>
            </a:r>
          </a:p>
        </p:txBody>
      </p:sp>
      <p:sp>
        <p:nvSpPr>
          <p:cNvPr id="3" name="">
            <a:extLst xmlns:a="http://schemas.openxmlformats.org/drawingml/2006/main">
              <a:ext uri="{FF2B5EF4-FFF2-40B4-BE49-F238E27FC236}">
                <a16:creationId xmlns:a16="http://schemas.microsoft.com/office/drawing/2014/main" id="{5331C60E-1921-44E5-B852-E8E8AD26A235}"/>
              </a:ext>
            </a:extLst>
          </p:cNvPr>
          <p:cNvSpPr>
            <a:spLocks xmlns:a="http://schemas.openxmlformats.org/drawingml/2006/main" noGrp="1"/>
          </p:cNvSpPr>
          <p:nvPr/>
        </p:nvSpPr>
        <p:spPr>
          <a:xfrm xmlns:a="http://schemas.openxmlformats.org/drawingml/2006/main">
            <a:off x="704850" y="1457325"/>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Relevant pricing starts with differences in customer needs and buying behavior</a:t>
            </a:r>
          </a:p>
        </p:txBody>
      </p:sp>
      <p:sp>
        <p:nvSpPr>
          <p:cNvPr id="4" name="">
            <a:extLst xmlns:a="http://schemas.openxmlformats.org/drawingml/2006/main">
              <a:ext uri="{FF2B5EF4-FFF2-40B4-BE49-F238E27FC236}">
                <a16:creationId xmlns:a16="http://schemas.microsoft.com/office/drawing/2014/main" id="{15CF56B7-C76F-4247-AEF8-10A340435A7C}"/>
              </a:ext>
            </a:extLst>
          </p:cNvPr>
          <p:cNvSpPr>
            <a:spLocks xmlns:a="http://schemas.openxmlformats.org/drawingml/2006/main" noGrp="1"/>
          </p:cNvSpPr>
          <p:nvPr/>
        </p:nvSpPr>
        <p:spPr>
          <a:xfrm xmlns:a="http://schemas.openxmlformats.org/drawingml/2006/main">
            <a:off x="685800" y="6419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Beverage Price Prediction</a:t>
            </a:r>
          </a:p>
        </p:txBody>
      </p:sp>
      <p:sp>
        <p:nvSpPr>
          <p:cNvPr id="5" name="">
            <a:extLst xmlns:a="http://schemas.openxmlformats.org/drawingml/2006/main">
              <a:ext uri="{FF2B5EF4-FFF2-40B4-BE49-F238E27FC236}">
                <a16:creationId xmlns:a16="http://schemas.microsoft.com/office/drawing/2014/main" id="{890181CF-CAE7-4793-8E68-808086D7A588}"/>
              </a:ext>
            </a:extLst>
          </p:cNvPr>
          <p:cNvSpPr>
            <a:spLocks xmlns:a="http://schemas.openxmlformats.org/drawingml/2006/main" noGrp="1"/>
          </p:cNvSpPr>
          <p:nvPr/>
        </p:nvSpPr>
        <p:spPr>
          <a:xfrm xmlns:a="http://schemas.openxmlformats.org/drawingml/2006/main">
            <a:off x="11144250" y="64198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F63D7BC6-7C04-4032-8A7E-7D8F648F21D6}"/>
              </a:ext>
            </a:extLst>
          </p:cNvPr>
          <p:cNvSpPr>
            <a:spLocks xmlns:a="http://schemas.openxmlformats.org/drawingml/2006/main" noGrp="1"/>
          </p:cNvSpPr>
          <p:nvPr/>
        </p:nvSpPr>
        <p:spPr>
          <a:xfrm xmlns:a="http://schemas.openxmlformats.org/drawingml/2006/main">
            <a:off x="895350" y="2266950"/>
            <a:ext cx="10334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F4F8FC"/>
                </a:solidFill>
                <a:latin typeface="Arial"/>
                <a:ea typeface="Arial"/>
                <a:cs typeface="Arial"/>
              </a:defRPr>
            </a:pPr>
            <a:r>
              <a:rPr sz="2250" b="1">
                <a:solidFill>
                  <a:srgbClr val="F4F8FC"/>
                </a:solidFill>
                <a:latin typeface="Arial"/>
                <a:ea typeface="Arial"/>
                <a:cs typeface="Arial"/>
              </a:rPr>
              <a:t>How can we recommend a price range without treating every customer in the same way?</a:t>
            </a:r>
          </a:p>
        </p:txBody>
      </p:sp>
      <p:sp>
        <p:nvSpPr>
          <p:cNvPr id="7" name="">
            <a:extLst xmlns:a="http://schemas.openxmlformats.org/drawingml/2006/main">
              <a:ext uri="{FF2B5EF4-FFF2-40B4-BE49-F238E27FC236}">
                <a16:creationId xmlns:a16="http://schemas.microsoft.com/office/drawing/2014/main" id="{A959BC86-D23C-4539-8905-64A07718AB89}"/>
              </a:ext>
            </a:extLst>
          </p:cNvPr>
          <p:cNvSpPr>
            <a:spLocks xmlns:a="http://schemas.openxmlformats.org/drawingml/2006/main" noGrp="1"/>
          </p:cNvSpPr>
          <p:nvPr/>
        </p:nvSpPr>
        <p:spPr>
          <a:xfrm xmlns:a="http://schemas.openxmlformats.org/drawingml/2006/main">
            <a:off x="952500" y="38290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37DDF5"/>
                </a:solidFill>
                <a:latin typeface="Arial"/>
                <a:ea typeface="Arial"/>
                <a:cs typeface="Arial"/>
              </a:defRPr>
            </a:pPr>
            <a:r>
              <a:rPr sz="1050" b="1">
                <a:solidFill>
                  <a:srgbClr val="37DDF5"/>
                </a:solidFill>
                <a:latin typeface="Arial"/>
                <a:ea typeface="Arial"/>
                <a:cs typeface="Arial"/>
              </a:rPr>
              <a:t>VALUE FOCUSED CUSTOMERS</a:t>
            </a:r>
          </a:p>
        </p:txBody>
      </p:sp>
      <p:sp>
        <p:nvSpPr>
          <p:cNvPr id="8" name="">
            <a:extLst xmlns:a="http://schemas.openxmlformats.org/drawingml/2006/main">
              <a:ext uri="{FF2B5EF4-FFF2-40B4-BE49-F238E27FC236}">
                <a16:creationId xmlns:a16="http://schemas.microsoft.com/office/drawing/2014/main" id="{F6262F53-DB5C-40E7-BA42-D66B47247DE6}"/>
              </a:ext>
            </a:extLst>
          </p:cNvPr>
          <p:cNvSpPr>
            <a:spLocks xmlns:a="http://schemas.openxmlformats.org/drawingml/2006/main" noGrp="1"/>
          </p:cNvSpPr>
          <p:nvPr/>
        </p:nvSpPr>
        <p:spPr>
          <a:xfrm xmlns:a="http://schemas.openxmlformats.org/drawingml/2006/main">
            <a:off x="952500" y="4191000"/>
            <a:ext cx="295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Need accessible pricing and a clear reason to choose the product.</a:t>
            </a:r>
          </a:p>
        </p:txBody>
      </p:sp>
      <p:sp>
        <p:nvSpPr>
          <p:cNvPr id="9" name="">
            <a:extLst xmlns:a="http://schemas.openxmlformats.org/drawingml/2006/main">
              <a:ext uri="{FF2B5EF4-FFF2-40B4-BE49-F238E27FC236}">
                <a16:creationId xmlns:a16="http://schemas.microsoft.com/office/drawing/2014/main" id="{CBBBFC5D-B9F2-4149-B332-2D6DB186BDD5}"/>
              </a:ext>
            </a:extLst>
          </p:cNvPr>
          <p:cNvSpPr>
            <a:spLocks xmlns:a="http://schemas.openxmlformats.org/drawingml/2006/main" noGrp="1"/>
          </p:cNvSpPr>
          <p:nvPr/>
        </p:nvSpPr>
        <p:spPr>
          <a:xfrm xmlns:a="http://schemas.openxmlformats.org/drawingml/2006/main">
            <a:off x="4619625" y="38290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56E3A8"/>
                </a:solidFill>
                <a:latin typeface="Arial"/>
                <a:ea typeface="Arial"/>
                <a:cs typeface="Arial"/>
              </a:defRPr>
            </a:pPr>
            <a:r>
              <a:rPr sz="1050" b="1">
                <a:solidFill>
                  <a:srgbClr val="56E3A8"/>
                </a:solidFill>
                <a:latin typeface="Arial"/>
                <a:ea typeface="Arial"/>
                <a:cs typeface="Arial"/>
              </a:rPr>
              <a:t>EVERYDAY UPGRADE</a:t>
            </a:r>
          </a:p>
        </p:txBody>
      </p:sp>
      <p:sp>
        <p:nvSpPr>
          <p:cNvPr id="10" name="">
            <a:extLst xmlns:a="http://schemas.openxmlformats.org/drawingml/2006/main">
              <a:ext uri="{FF2B5EF4-FFF2-40B4-BE49-F238E27FC236}">
                <a16:creationId xmlns:a16="http://schemas.microsoft.com/office/drawing/2014/main" id="{0B05FE69-A5AC-46CD-94D7-309C746984A5}"/>
              </a:ext>
            </a:extLst>
          </p:cNvPr>
          <p:cNvSpPr>
            <a:spLocks xmlns:a="http://schemas.openxmlformats.org/drawingml/2006/main" noGrp="1"/>
          </p:cNvSpPr>
          <p:nvPr/>
        </p:nvSpPr>
        <p:spPr>
          <a:xfrm xmlns:a="http://schemas.openxmlformats.org/drawingml/2006/main">
            <a:off x="4619625" y="4191000"/>
            <a:ext cx="295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Will pay more when the offer shows visible quality and convenience.</a:t>
            </a:r>
          </a:p>
        </p:txBody>
      </p:sp>
      <p:sp>
        <p:nvSpPr>
          <p:cNvPr id="11" name="">
            <a:extLst xmlns:a="http://schemas.openxmlformats.org/drawingml/2006/main">
              <a:ext uri="{FF2B5EF4-FFF2-40B4-BE49-F238E27FC236}">
                <a16:creationId xmlns:a16="http://schemas.microsoft.com/office/drawing/2014/main" id="{83459566-0B82-4575-8601-B1878EDBB163}"/>
              </a:ext>
            </a:extLst>
          </p:cNvPr>
          <p:cNvSpPr>
            <a:spLocks xmlns:a="http://schemas.openxmlformats.org/drawingml/2006/main" noGrp="1"/>
          </p:cNvSpPr>
          <p:nvPr/>
        </p:nvSpPr>
        <p:spPr>
          <a:xfrm xmlns:a="http://schemas.openxmlformats.org/drawingml/2006/main">
            <a:off x="8286750" y="38290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9C82F5"/>
                </a:solidFill>
                <a:latin typeface="Arial"/>
                <a:ea typeface="Arial"/>
                <a:cs typeface="Arial"/>
              </a:defRPr>
            </a:pPr>
            <a:r>
              <a:rPr sz="1050" b="1">
                <a:solidFill>
                  <a:srgbClr val="9C82F5"/>
                </a:solidFill>
                <a:latin typeface="Arial"/>
                <a:ea typeface="Arial"/>
                <a:cs typeface="Arial"/>
              </a:rPr>
              <a:t>PREMIUM CUSTOMERS</a:t>
            </a:r>
          </a:p>
        </p:txBody>
      </p:sp>
      <p:sp>
        <p:nvSpPr>
          <p:cNvPr id="12" name="">
            <a:extLst xmlns:a="http://schemas.openxmlformats.org/drawingml/2006/main">
              <a:ext uri="{FF2B5EF4-FFF2-40B4-BE49-F238E27FC236}">
                <a16:creationId xmlns:a16="http://schemas.microsoft.com/office/drawing/2014/main" id="{9B880E7F-BE22-492C-8AFE-55C95943952C}"/>
              </a:ext>
            </a:extLst>
          </p:cNvPr>
          <p:cNvSpPr>
            <a:spLocks xmlns:a="http://schemas.openxmlformats.org/drawingml/2006/main" noGrp="1"/>
          </p:cNvSpPr>
          <p:nvPr/>
        </p:nvSpPr>
        <p:spPr>
          <a:xfrm xmlns:a="http://schemas.openxmlformats.org/drawingml/2006/main">
            <a:off x="8286750" y="4191000"/>
            <a:ext cx="295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Respond to stronger experience, packaging, and channel positioning.</a:t>
            </a:r>
          </a:p>
        </p:txBody>
      </p:sp>
    </p:spTree>
    <p:extLst>
      <p:ext uri="{BB962C8B-B14F-4D97-AF65-F5344CB8AC3E}">
        <p14:creationId xmlns:p14="http://schemas.microsoft.com/office/powerpoint/2010/main" val="1833162819"/>
      </p:ext>
    </p:extLst>
  </p:cSld>
</p:sld>
</file>

<file path=ppt/slides/slide3.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72A67D1-92F0-4454-963E-73A9C007CEA2}"/>
              </a:ext>
            </a:extLst>
          </p:cNvPr>
          <p:cNvSpPr>
            <a:spLocks xmlns:a="http://schemas.openxmlformats.org/drawingml/2006/main" noGrp="1"/>
          </p:cNvSpPr>
          <p:nvPr/>
        </p:nvSpPr>
        <p:spPr>
          <a:xfrm xmlns:a="http://schemas.openxmlformats.org/drawingml/2006/main">
            <a:off x="685800" y="40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37DDF5"/>
                </a:solidFill>
                <a:latin typeface="Arial"/>
                <a:ea typeface="Arial"/>
                <a:cs typeface="Arial"/>
              </a:defRPr>
            </a:pPr>
            <a:r>
              <a:rPr sz="1200" b="1">
                <a:solidFill>
                  <a:srgbClr val="37DDF5"/>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7B0D4156-074E-42FE-B50C-A7BB511461EC}"/>
              </a:ext>
            </a:extLst>
          </p:cNvPr>
          <p:cNvSpPr>
            <a:spLocks xmlns:a="http://schemas.openxmlformats.org/drawingml/2006/main" noGrp="1"/>
          </p:cNvSpPr>
          <p:nvPr/>
        </p:nvSpPr>
        <p:spPr>
          <a:xfrm xmlns:a="http://schemas.openxmlformats.org/drawingml/2006/main">
            <a:off x="685800" y="809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4F8FC"/>
                </a:solidFill>
                <a:latin typeface="Arial"/>
                <a:ea typeface="Arial"/>
                <a:cs typeface="Arial"/>
              </a:defRPr>
            </a:pPr>
            <a:r>
              <a:rPr sz="2850" b="1">
                <a:solidFill>
                  <a:srgbClr val="F4F8FC"/>
                </a:solidFill>
                <a:latin typeface="Arial"/>
                <a:ea typeface="Arial"/>
                <a:cs typeface="Arial"/>
              </a:rPr>
              <a:t>Customer data to pricing signal</a:t>
            </a:r>
          </a:p>
        </p:txBody>
      </p:sp>
      <p:sp>
        <p:nvSpPr>
          <p:cNvPr id="3" name="">
            <a:extLst xmlns:a="http://schemas.openxmlformats.org/drawingml/2006/main">
              <a:ext uri="{FF2B5EF4-FFF2-40B4-BE49-F238E27FC236}">
                <a16:creationId xmlns:a16="http://schemas.microsoft.com/office/drawing/2014/main" id="{26CF931C-FE91-4C61-A685-21FF29A23047}"/>
              </a:ext>
            </a:extLst>
          </p:cNvPr>
          <p:cNvSpPr>
            <a:spLocks xmlns:a="http://schemas.openxmlformats.org/drawingml/2006/main" noGrp="1"/>
          </p:cNvSpPr>
          <p:nvPr/>
        </p:nvSpPr>
        <p:spPr>
          <a:xfrm xmlns:a="http://schemas.openxmlformats.org/drawingml/2006/main">
            <a:off x="704850" y="1457325"/>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Survey responses were cleaned and converted into business-friendly customer indicators</a:t>
            </a:r>
          </a:p>
        </p:txBody>
      </p:sp>
      <p:sp>
        <p:nvSpPr>
          <p:cNvPr id="4" name="">
            <a:extLst xmlns:a="http://schemas.openxmlformats.org/drawingml/2006/main">
              <a:ext uri="{FF2B5EF4-FFF2-40B4-BE49-F238E27FC236}">
                <a16:creationId xmlns:a16="http://schemas.microsoft.com/office/drawing/2014/main" id="{BAE731FC-AD04-450F-912F-C38AB7E7785A}"/>
              </a:ext>
            </a:extLst>
          </p:cNvPr>
          <p:cNvSpPr>
            <a:spLocks xmlns:a="http://schemas.openxmlformats.org/drawingml/2006/main" noGrp="1"/>
          </p:cNvSpPr>
          <p:nvPr/>
        </p:nvSpPr>
        <p:spPr>
          <a:xfrm xmlns:a="http://schemas.openxmlformats.org/drawingml/2006/main">
            <a:off x="685800" y="6419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Beverage Price Prediction</a:t>
            </a:r>
          </a:p>
        </p:txBody>
      </p:sp>
      <p:sp>
        <p:nvSpPr>
          <p:cNvPr id="5" name="">
            <a:extLst xmlns:a="http://schemas.openxmlformats.org/drawingml/2006/main">
              <a:ext uri="{FF2B5EF4-FFF2-40B4-BE49-F238E27FC236}">
                <a16:creationId xmlns:a16="http://schemas.microsoft.com/office/drawing/2014/main" id="{BD58AA66-325D-4135-A9B3-7C49BA5576E7}"/>
              </a:ext>
            </a:extLst>
          </p:cNvPr>
          <p:cNvSpPr>
            <a:spLocks xmlns:a="http://schemas.openxmlformats.org/drawingml/2006/main" noGrp="1"/>
          </p:cNvSpPr>
          <p:nvPr/>
        </p:nvSpPr>
        <p:spPr>
          <a:xfrm xmlns:a="http://schemas.openxmlformats.org/drawingml/2006/main">
            <a:off x="11144250" y="64198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19D362B9-CD6F-49CE-9841-DCADE61E62A3}"/>
              </a:ext>
            </a:extLst>
          </p:cNvPr>
          <p:cNvSpPr>
            <a:spLocks xmlns:a="http://schemas.openxmlformats.org/drawingml/2006/main" noGrp="1"/>
          </p:cNvSpPr>
          <p:nvPr/>
        </p:nvSpPr>
        <p:spPr>
          <a:xfrm xmlns:a="http://schemas.openxmlformats.org/drawingml/2006/main">
            <a:off x="819150" y="2324100"/>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37DDF5"/>
                </a:solidFill>
                <a:latin typeface="Arial"/>
                <a:ea typeface="Arial"/>
                <a:cs typeface="Arial"/>
              </a:defRPr>
            </a:pPr>
            <a:r>
              <a:rPr sz="4650" b="1">
                <a:solidFill>
                  <a:srgbClr val="37DDF5"/>
                </a:solidFill>
                <a:latin typeface="Arial"/>
                <a:ea typeface="Arial"/>
                <a:cs typeface="Arial"/>
              </a:rPr>
              <a:t>29,956</a:t>
            </a:r>
          </a:p>
        </p:txBody>
      </p:sp>
      <p:sp>
        <p:nvSpPr>
          <p:cNvPr id="7" name="">
            <a:extLst xmlns:a="http://schemas.openxmlformats.org/drawingml/2006/main">
              <a:ext uri="{FF2B5EF4-FFF2-40B4-BE49-F238E27FC236}">
                <a16:creationId xmlns:a16="http://schemas.microsoft.com/office/drawing/2014/main" id="{60F49EF8-CD88-4781-9709-8C1B9AB2A394}"/>
              </a:ext>
            </a:extLst>
          </p:cNvPr>
          <p:cNvSpPr>
            <a:spLocks xmlns:a="http://schemas.openxmlformats.org/drawingml/2006/main" noGrp="1"/>
          </p:cNvSpPr>
          <p:nvPr/>
        </p:nvSpPr>
        <p:spPr>
          <a:xfrm xmlns:a="http://schemas.openxmlformats.org/drawingml/2006/main">
            <a:off x="866775" y="3286125"/>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93A7BC"/>
                </a:solidFill>
                <a:latin typeface="Arial"/>
                <a:ea typeface="Arial"/>
                <a:cs typeface="Arial"/>
              </a:defRPr>
            </a:pPr>
            <a:r>
              <a:rPr sz="1500" b="0">
                <a:solidFill>
                  <a:srgbClr val="93A7BC"/>
                </a:solidFill>
                <a:latin typeface="Arial"/>
                <a:ea typeface="Arial"/>
                <a:cs typeface="Arial"/>
              </a:rPr>
              <a:t>usable customer records</a:t>
            </a:r>
          </a:p>
        </p:txBody>
      </p:sp>
      <p:sp>
        <p:nvSpPr>
          <p:cNvPr id="8" name="">
            <a:extLst xmlns:a="http://schemas.openxmlformats.org/drawingml/2006/main">
              <a:ext uri="{FF2B5EF4-FFF2-40B4-BE49-F238E27FC236}">
                <a16:creationId xmlns:a16="http://schemas.microsoft.com/office/drawing/2014/main" id="{28826FCF-E307-434A-8392-BDBC984C6209}"/>
              </a:ext>
            </a:extLst>
          </p:cNvPr>
          <p:cNvSpPr>
            <a:spLocks xmlns:a="http://schemas.openxmlformats.org/drawingml/2006/main" noGrp="1"/>
          </p:cNvSpPr>
          <p:nvPr/>
        </p:nvSpPr>
        <p:spPr>
          <a:xfrm xmlns:a="http://schemas.openxmlformats.org/drawingml/2006/main">
            <a:off x="4762500" y="2324100"/>
            <a:ext cx="161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56E3A8"/>
                </a:solidFill>
                <a:latin typeface="Arial"/>
                <a:ea typeface="Arial"/>
                <a:cs typeface="Arial"/>
              </a:defRPr>
            </a:pPr>
            <a:r>
              <a:rPr sz="4650" b="1">
                <a:solidFill>
                  <a:srgbClr val="56E3A8"/>
                </a:solidFill>
                <a:latin typeface="Arial"/>
                <a:ea typeface="Arial"/>
                <a:cs typeface="Arial"/>
              </a:rPr>
              <a:t>4</a:t>
            </a:r>
          </a:p>
        </p:txBody>
      </p:sp>
      <p:sp>
        <p:nvSpPr>
          <p:cNvPr id="9" name="">
            <a:extLst xmlns:a="http://schemas.openxmlformats.org/drawingml/2006/main">
              <a:ext uri="{FF2B5EF4-FFF2-40B4-BE49-F238E27FC236}">
                <a16:creationId xmlns:a16="http://schemas.microsoft.com/office/drawing/2014/main" id="{0BE518AD-10A4-42B7-8E62-E1391B78A08D}"/>
              </a:ext>
            </a:extLst>
          </p:cNvPr>
          <p:cNvSpPr>
            <a:spLocks xmlns:a="http://schemas.openxmlformats.org/drawingml/2006/main" noGrp="1"/>
          </p:cNvSpPr>
          <p:nvPr/>
        </p:nvSpPr>
        <p:spPr>
          <a:xfrm xmlns:a="http://schemas.openxmlformats.org/drawingml/2006/main">
            <a:off x="4810125" y="32861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93A7BC"/>
                </a:solidFill>
                <a:latin typeface="Arial"/>
                <a:ea typeface="Arial"/>
                <a:cs typeface="Arial"/>
              </a:defRPr>
            </a:pPr>
            <a:r>
              <a:rPr sz="1500" b="0">
                <a:solidFill>
                  <a:srgbClr val="93A7BC"/>
                </a:solidFill>
                <a:latin typeface="Arial"/>
                <a:ea typeface="Arial"/>
                <a:cs typeface="Arial"/>
              </a:rPr>
              <a:t>price bands</a:t>
            </a:r>
          </a:p>
        </p:txBody>
      </p:sp>
      <p:sp>
        <p:nvSpPr>
          <p:cNvPr id="10" name="">
            <a:extLst xmlns:a="http://schemas.openxmlformats.org/drawingml/2006/main">
              <a:ext uri="{FF2B5EF4-FFF2-40B4-BE49-F238E27FC236}">
                <a16:creationId xmlns:a16="http://schemas.microsoft.com/office/drawing/2014/main" id="{21878B33-9DA5-48D6-BF02-1D080CD36731}"/>
              </a:ext>
            </a:extLst>
          </p:cNvPr>
          <p:cNvSpPr>
            <a:spLocks xmlns:a="http://schemas.openxmlformats.org/drawingml/2006/main" noGrp="1"/>
          </p:cNvSpPr>
          <p:nvPr/>
        </p:nvSpPr>
        <p:spPr>
          <a:xfrm xmlns:a="http://schemas.openxmlformats.org/drawingml/2006/main">
            <a:off x="7524750" y="2324100"/>
            <a:ext cx="180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9C82F5"/>
                </a:solidFill>
                <a:latin typeface="Arial"/>
                <a:ea typeface="Arial"/>
                <a:cs typeface="Arial"/>
              </a:defRPr>
            </a:pPr>
            <a:r>
              <a:rPr sz="4650" b="1">
                <a:solidFill>
                  <a:srgbClr val="9C82F5"/>
                </a:solidFill>
                <a:latin typeface="Arial"/>
                <a:ea typeface="Arial"/>
                <a:cs typeface="Arial"/>
              </a:rPr>
              <a:t>18</a:t>
            </a:r>
          </a:p>
        </p:txBody>
      </p:sp>
      <p:sp>
        <p:nvSpPr>
          <p:cNvPr id="11" name="">
            <a:extLst xmlns:a="http://schemas.openxmlformats.org/drawingml/2006/main">
              <a:ext uri="{FF2B5EF4-FFF2-40B4-BE49-F238E27FC236}">
                <a16:creationId xmlns:a16="http://schemas.microsoft.com/office/drawing/2014/main" id="{6FB2705F-BE36-4AD9-8219-28F41C9882BA}"/>
              </a:ext>
            </a:extLst>
          </p:cNvPr>
          <p:cNvSpPr>
            <a:spLocks xmlns:a="http://schemas.openxmlformats.org/drawingml/2006/main" noGrp="1"/>
          </p:cNvSpPr>
          <p:nvPr/>
        </p:nvSpPr>
        <p:spPr>
          <a:xfrm xmlns:a="http://schemas.openxmlformats.org/drawingml/2006/main">
            <a:off x="7572375" y="328612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93A7BC"/>
                </a:solidFill>
                <a:latin typeface="Arial"/>
                <a:ea typeface="Arial"/>
                <a:cs typeface="Arial"/>
              </a:defRPr>
            </a:pPr>
            <a:r>
              <a:rPr sz="1500" b="0">
                <a:solidFill>
                  <a:srgbClr val="93A7BC"/>
                </a:solidFill>
                <a:latin typeface="Arial"/>
                <a:ea typeface="Arial"/>
                <a:cs typeface="Arial"/>
              </a:rPr>
              <a:t>decision inputs</a:t>
            </a:r>
          </a:p>
        </p:txBody>
      </p:sp>
      <p:sp>
        <p:nvSpPr>
          <p:cNvPr id="12" name="">
            <a:extLst xmlns:a="http://schemas.openxmlformats.org/drawingml/2006/main">
              <a:ext uri="{FF2B5EF4-FFF2-40B4-BE49-F238E27FC236}">
                <a16:creationId xmlns:a16="http://schemas.microsoft.com/office/drawing/2014/main" id="{DA5E6748-A28A-4101-A462-EDD11C70BB84}"/>
              </a:ext>
            </a:extLst>
          </p:cNvPr>
          <p:cNvSpPr>
            <a:spLocks xmlns:a="http://schemas.openxmlformats.org/drawingml/2006/main" noGrp="1"/>
          </p:cNvSpPr>
          <p:nvPr/>
        </p:nvSpPr>
        <p:spPr>
          <a:xfrm xmlns:a="http://schemas.openxmlformats.org/drawingml/2006/main">
            <a:off x="838200" y="42291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F4F8FC"/>
                </a:solidFill>
                <a:latin typeface="Arial"/>
                <a:ea typeface="Arial"/>
                <a:cs typeface="Arial"/>
              </a:defRPr>
            </a:pPr>
            <a:r>
              <a:rPr sz="1350" b="1">
                <a:solidFill>
                  <a:srgbClr val="F4F8FC"/>
                </a:solidFill>
                <a:latin typeface="Arial"/>
                <a:ea typeface="Arial"/>
                <a:cs typeface="Arial"/>
              </a:rPr>
              <a:t>Customer indicators</a:t>
            </a:r>
          </a:p>
        </p:txBody>
      </p:sp>
      <p:sp>
        <p:nvSpPr>
          <p:cNvPr id="13" name="">
            <a:extLst xmlns:a="http://schemas.openxmlformats.org/drawingml/2006/main">
              <a:ext uri="{FF2B5EF4-FFF2-40B4-BE49-F238E27FC236}">
                <a16:creationId xmlns:a16="http://schemas.microsoft.com/office/drawing/2014/main" id="{34109A17-9341-4D93-9899-F348FA6EB926}"/>
              </a:ext>
            </a:extLst>
          </p:cNvPr>
          <p:cNvSpPr>
            <a:spLocks xmlns:a="http://schemas.openxmlformats.org/drawingml/2006/main" noGrp="1"/>
          </p:cNvSpPr>
          <p:nvPr/>
        </p:nvSpPr>
        <p:spPr>
          <a:xfrm xmlns:a="http://schemas.openxmlformats.org/drawingml/2006/main">
            <a:off x="838200" y="4638675"/>
            <a:ext cx="4476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Age segment</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Buying-power score</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Consumption and brand awareness</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Brand switching intent</a:t>
            </a:r>
          </a:p>
        </p:txBody>
      </p:sp>
      <p:sp>
        <p:nvSpPr>
          <p:cNvPr id="14" name="">
            <a:extLst xmlns:a="http://schemas.openxmlformats.org/drawingml/2006/main">
              <a:ext uri="{FF2B5EF4-FFF2-40B4-BE49-F238E27FC236}">
                <a16:creationId xmlns:a16="http://schemas.microsoft.com/office/drawing/2014/main" id="{8FE93F0A-EEE4-4F87-89AF-D986CFA8C9C7}"/>
              </a:ext>
            </a:extLst>
          </p:cNvPr>
          <p:cNvSpPr>
            <a:spLocks xmlns:a="http://schemas.openxmlformats.org/drawingml/2006/main" noGrp="1"/>
          </p:cNvSpPr>
          <p:nvPr/>
        </p:nvSpPr>
        <p:spPr>
          <a:xfrm xmlns:a="http://schemas.openxmlformats.org/drawingml/2006/main">
            <a:off x="6381750" y="42291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F4F8FC"/>
                </a:solidFill>
                <a:latin typeface="Arial"/>
                <a:ea typeface="Arial"/>
                <a:cs typeface="Arial"/>
              </a:defRPr>
            </a:pPr>
            <a:r>
              <a:rPr sz="1350" b="1">
                <a:solidFill>
                  <a:srgbClr val="F4F8FC"/>
                </a:solidFill>
                <a:latin typeface="Arial"/>
                <a:ea typeface="Arial"/>
                <a:cs typeface="Arial"/>
              </a:rPr>
              <a:t>Data preparation</a:t>
            </a:r>
          </a:p>
        </p:txBody>
      </p:sp>
      <p:sp>
        <p:nvSpPr>
          <p:cNvPr id="15" name="">
            <a:extLst xmlns:a="http://schemas.openxmlformats.org/drawingml/2006/main">
              <a:ext uri="{FF2B5EF4-FFF2-40B4-BE49-F238E27FC236}">
                <a16:creationId xmlns:a16="http://schemas.microsoft.com/office/drawing/2014/main" id="{1D7EDFCD-6429-48FE-AD7D-AD6FD258391F}"/>
              </a:ext>
            </a:extLst>
          </p:cNvPr>
          <p:cNvSpPr>
            <a:spLocks xmlns:a="http://schemas.openxmlformats.org/drawingml/2006/main" noGrp="1"/>
          </p:cNvSpPr>
          <p:nvPr/>
        </p:nvSpPr>
        <p:spPr>
          <a:xfrm xmlns:a="http://schemas.openxmlformats.org/drawingml/2006/main">
            <a:off x="6381750" y="4638675"/>
            <a:ext cx="4476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Duplicate removal</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Missing-value treatment</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Consistent category labels</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Business-rule checks</a:t>
            </a:r>
          </a:p>
        </p:txBody>
      </p:sp>
    </p:spTree>
    <p:extLst>
      <p:ext uri="{BB962C8B-B14F-4D97-AF65-F5344CB8AC3E}">
        <p14:creationId xmlns:p14="http://schemas.microsoft.com/office/powerpoint/2010/main" val="1594698421"/>
      </p:ext>
    </p:extLst>
  </p:cSld>
</p:sld>
</file>

<file path=ppt/slides/slide4.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0CA6E1-AA2E-4BFB-A6AB-BB8F4A578042}"/>
              </a:ext>
            </a:extLst>
          </p:cNvPr>
          <p:cNvSpPr>
            <a:spLocks xmlns:a="http://schemas.openxmlformats.org/drawingml/2006/main" noGrp="1"/>
          </p:cNvSpPr>
          <p:nvPr/>
        </p:nvSpPr>
        <p:spPr>
          <a:xfrm xmlns:a="http://schemas.openxmlformats.org/drawingml/2006/main">
            <a:off x="685800" y="40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37DDF5"/>
                </a:solidFill>
                <a:latin typeface="Arial"/>
                <a:ea typeface="Arial"/>
                <a:cs typeface="Arial"/>
              </a:defRPr>
            </a:pPr>
            <a:r>
              <a:rPr sz="1200" b="1">
                <a:solidFill>
                  <a:srgbClr val="37DDF5"/>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54C695B1-42DB-4D97-96A6-55639579DEAF}"/>
              </a:ext>
            </a:extLst>
          </p:cNvPr>
          <p:cNvSpPr>
            <a:spLocks xmlns:a="http://schemas.openxmlformats.org/drawingml/2006/main" noGrp="1"/>
          </p:cNvSpPr>
          <p:nvPr/>
        </p:nvSpPr>
        <p:spPr>
          <a:xfrm xmlns:a="http://schemas.openxmlformats.org/drawingml/2006/main">
            <a:off x="685800" y="809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4F8FC"/>
                </a:solidFill>
                <a:latin typeface="Arial"/>
                <a:ea typeface="Arial"/>
                <a:cs typeface="Arial"/>
              </a:defRPr>
            </a:pPr>
            <a:r>
              <a:rPr sz="2850" b="1">
                <a:solidFill>
                  <a:srgbClr val="F4F8FC"/>
                </a:solidFill>
                <a:latin typeface="Arial"/>
                <a:ea typeface="Arial"/>
                <a:cs typeface="Arial"/>
              </a:rPr>
              <a:t>What the business receives</a:t>
            </a:r>
          </a:p>
        </p:txBody>
      </p:sp>
      <p:sp>
        <p:nvSpPr>
          <p:cNvPr id="3" name="">
            <a:extLst xmlns:a="http://schemas.openxmlformats.org/drawingml/2006/main">
              <a:ext uri="{FF2B5EF4-FFF2-40B4-BE49-F238E27FC236}">
                <a16:creationId xmlns:a16="http://schemas.microsoft.com/office/drawing/2014/main" id="{77C9F891-16C0-4D52-9779-54D8C88C8519}"/>
              </a:ext>
            </a:extLst>
          </p:cNvPr>
          <p:cNvSpPr>
            <a:spLocks xmlns:a="http://schemas.openxmlformats.org/drawingml/2006/main" noGrp="1"/>
          </p:cNvSpPr>
          <p:nvPr/>
        </p:nvSpPr>
        <p:spPr>
          <a:xfrm xmlns:a="http://schemas.openxmlformats.org/drawingml/2006/main">
            <a:off x="704850" y="1457325"/>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Each prediction combines a price recommendation with context for action</a:t>
            </a:r>
          </a:p>
        </p:txBody>
      </p:sp>
      <p:sp>
        <p:nvSpPr>
          <p:cNvPr id="4" name="">
            <a:extLst xmlns:a="http://schemas.openxmlformats.org/drawingml/2006/main">
              <a:ext uri="{FF2B5EF4-FFF2-40B4-BE49-F238E27FC236}">
                <a16:creationId xmlns:a16="http://schemas.microsoft.com/office/drawing/2014/main" id="{310D9E7C-1E19-4E3B-9ACA-63EF624844A6}"/>
              </a:ext>
            </a:extLst>
          </p:cNvPr>
          <p:cNvSpPr>
            <a:spLocks xmlns:a="http://schemas.openxmlformats.org/drawingml/2006/main" noGrp="1"/>
          </p:cNvSpPr>
          <p:nvPr/>
        </p:nvSpPr>
        <p:spPr>
          <a:xfrm xmlns:a="http://schemas.openxmlformats.org/drawingml/2006/main">
            <a:off x="685800" y="6419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Beverage Price Prediction</a:t>
            </a:r>
          </a:p>
        </p:txBody>
      </p:sp>
      <p:sp>
        <p:nvSpPr>
          <p:cNvPr id="5" name="">
            <a:extLst xmlns:a="http://schemas.openxmlformats.org/drawingml/2006/main">
              <a:ext uri="{FF2B5EF4-FFF2-40B4-BE49-F238E27FC236}">
                <a16:creationId xmlns:a16="http://schemas.microsoft.com/office/drawing/2014/main" id="{C8A7196F-FB89-42F2-A4DD-1C5810968E3F}"/>
              </a:ext>
            </a:extLst>
          </p:cNvPr>
          <p:cNvSpPr>
            <a:spLocks xmlns:a="http://schemas.openxmlformats.org/drawingml/2006/main" noGrp="1"/>
          </p:cNvSpPr>
          <p:nvPr/>
        </p:nvSpPr>
        <p:spPr>
          <a:xfrm xmlns:a="http://schemas.openxmlformats.org/drawingml/2006/main">
            <a:off x="11144250" y="64198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BA55F044-68BF-44C4-A52A-726A2CB68775}"/>
              </a:ext>
            </a:extLst>
          </p:cNvPr>
          <p:cNvSpPr>
            <a:spLocks xmlns:a="http://schemas.openxmlformats.org/drawingml/2006/main" noGrp="1"/>
          </p:cNvSpPr>
          <p:nvPr/>
        </p:nvSpPr>
        <p:spPr>
          <a:xfrm xmlns:a="http://schemas.openxmlformats.org/drawingml/2006/main">
            <a:off x="876300" y="22669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37DDF5"/>
                </a:solidFill>
                <a:latin typeface="Arial"/>
                <a:ea typeface="Arial"/>
                <a:cs typeface="Arial"/>
              </a:defRPr>
            </a:pPr>
            <a:r>
              <a:rPr sz="1050" b="1">
                <a:solidFill>
                  <a:srgbClr val="37DDF5"/>
                </a:solidFill>
                <a:latin typeface="Arial"/>
                <a:ea typeface="Arial"/>
                <a:cs typeface="Arial"/>
              </a:rPr>
              <a:t>RECOMMENDED PRICE BAND</a:t>
            </a:r>
          </a:p>
        </p:txBody>
      </p:sp>
      <p:sp>
        <p:nvSpPr>
          <p:cNvPr id="7" name="">
            <a:extLst xmlns:a="http://schemas.openxmlformats.org/drawingml/2006/main">
              <a:ext uri="{FF2B5EF4-FFF2-40B4-BE49-F238E27FC236}">
                <a16:creationId xmlns:a16="http://schemas.microsoft.com/office/drawing/2014/main" id="{F4FE1BE2-2136-4127-BBF5-086011279491}"/>
              </a:ext>
            </a:extLst>
          </p:cNvPr>
          <p:cNvSpPr>
            <a:spLocks xmlns:a="http://schemas.openxmlformats.org/drawingml/2006/main" noGrp="1"/>
          </p:cNvSpPr>
          <p:nvPr/>
        </p:nvSpPr>
        <p:spPr>
          <a:xfrm xmlns:a="http://schemas.openxmlformats.org/drawingml/2006/main">
            <a:off x="876300" y="2628900"/>
            <a:ext cx="4572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The price interval most likely to fit the customer profile.</a:t>
            </a:r>
          </a:p>
        </p:txBody>
      </p:sp>
      <p:sp>
        <p:nvSpPr>
          <p:cNvPr id="8" name="">
            <a:extLst xmlns:a="http://schemas.openxmlformats.org/drawingml/2006/main">
              <a:ext uri="{FF2B5EF4-FFF2-40B4-BE49-F238E27FC236}">
                <a16:creationId xmlns:a16="http://schemas.microsoft.com/office/drawing/2014/main" id="{85F9A353-7D7F-4BB0-AA8E-93A02CA9F16C}"/>
              </a:ext>
            </a:extLst>
          </p:cNvPr>
          <p:cNvSpPr>
            <a:spLocks xmlns:a="http://schemas.openxmlformats.org/drawingml/2006/main" noGrp="1"/>
          </p:cNvSpPr>
          <p:nvPr/>
        </p:nvSpPr>
        <p:spPr>
          <a:xfrm xmlns:a="http://schemas.openxmlformats.org/drawingml/2006/main">
            <a:off x="6572250" y="22669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56E3A8"/>
                </a:solidFill>
                <a:latin typeface="Arial"/>
                <a:ea typeface="Arial"/>
                <a:cs typeface="Arial"/>
              </a:defRPr>
            </a:pPr>
            <a:r>
              <a:rPr sz="1050" b="1">
                <a:solidFill>
                  <a:srgbClr val="56E3A8"/>
                </a:solidFill>
                <a:latin typeface="Arial"/>
                <a:ea typeface="Arial"/>
                <a:cs typeface="Arial"/>
              </a:rPr>
              <a:t>DECISION CONFIDENCE</a:t>
            </a:r>
          </a:p>
        </p:txBody>
      </p:sp>
      <p:sp>
        <p:nvSpPr>
          <p:cNvPr id="9" name="">
            <a:extLst xmlns:a="http://schemas.openxmlformats.org/drawingml/2006/main">
              <a:ext uri="{FF2B5EF4-FFF2-40B4-BE49-F238E27FC236}">
                <a16:creationId xmlns:a16="http://schemas.microsoft.com/office/drawing/2014/main" id="{E6FE5CAD-B056-4868-B776-72E96110C1D0}"/>
              </a:ext>
            </a:extLst>
          </p:cNvPr>
          <p:cNvSpPr>
            <a:spLocks xmlns:a="http://schemas.openxmlformats.org/drawingml/2006/main" noGrp="1"/>
          </p:cNvSpPr>
          <p:nvPr/>
        </p:nvSpPr>
        <p:spPr>
          <a:xfrm xmlns:a="http://schemas.openxmlformats.org/drawingml/2006/main">
            <a:off x="6572250" y="2628900"/>
            <a:ext cx="4572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The strength of the recommendation compared with the other price options.</a:t>
            </a:r>
          </a:p>
        </p:txBody>
      </p:sp>
      <p:sp>
        <p:nvSpPr>
          <p:cNvPr id="10" name="">
            <a:extLst xmlns:a="http://schemas.openxmlformats.org/drawingml/2006/main">
              <a:ext uri="{FF2B5EF4-FFF2-40B4-BE49-F238E27FC236}">
                <a16:creationId xmlns:a16="http://schemas.microsoft.com/office/drawing/2014/main" id="{CEE2C95A-E766-4ABC-AB6F-69AB8A616B14}"/>
              </a:ext>
            </a:extLst>
          </p:cNvPr>
          <p:cNvSpPr>
            <a:spLocks xmlns:a="http://schemas.openxmlformats.org/drawingml/2006/main" noGrp="1"/>
          </p:cNvSpPr>
          <p:nvPr/>
        </p:nvSpPr>
        <p:spPr>
          <a:xfrm xmlns:a="http://schemas.openxmlformats.org/drawingml/2006/main">
            <a:off x="876300" y="41719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9C82F5"/>
                </a:solidFill>
                <a:latin typeface="Arial"/>
                <a:ea typeface="Arial"/>
                <a:cs typeface="Arial"/>
              </a:defRPr>
            </a:pPr>
            <a:r>
              <a:rPr sz="1050" b="1">
                <a:solidFill>
                  <a:srgbClr val="9C82F5"/>
                </a:solidFill>
                <a:latin typeface="Arial"/>
                <a:ea typeface="Arial"/>
                <a:cs typeface="Arial"/>
              </a:rPr>
              <a:t>CUSTOMER CONTEXT</a:t>
            </a:r>
          </a:p>
        </p:txBody>
      </p:sp>
      <p:sp>
        <p:nvSpPr>
          <p:cNvPr id="11" name="">
            <a:extLst xmlns:a="http://schemas.openxmlformats.org/drawingml/2006/main">
              <a:ext uri="{FF2B5EF4-FFF2-40B4-BE49-F238E27FC236}">
                <a16:creationId xmlns:a16="http://schemas.microsoft.com/office/drawing/2014/main" id="{9EFF58FA-49CB-4CF5-96A5-7E4DFB245DBB}"/>
              </a:ext>
            </a:extLst>
          </p:cNvPr>
          <p:cNvSpPr>
            <a:spLocks xmlns:a="http://schemas.openxmlformats.org/drawingml/2006/main" noGrp="1"/>
          </p:cNvSpPr>
          <p:nvPr/>
        </p:nvSpPr>
        <p:spPr>
          <a:xfrm xmlns:a="http://schemas.openxmlformats.org/drawingml/2006/main">
            <a:off x="876300" y="4533900"/>
            <a:ext cx="4572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The segment, buying power, and switching intent behind the result.</a:t>
            </a:r>
          </a:p>
        </p:txBody>
      </p:sp>
      <p:sp>
        <p:nvSpPr>
          <p:cNvPr id="12" name="">
            <a:extLst xmlns:a="http://schemas.openxmlformats.org/drawingml/2006/main">
              <a:ext uri="{FF2B5EF4-FFF2-40B4-BE49-F238E27FC236}">
                <a16:creationId xmlns:a16="http://schemas.microsoft.com/office/drawing/2014/main" id="{074D809B-0A88-48E8-9373-77AC4FC753E9}"/>
              </a:ext>
            </a:extLst>
          </p:cNvPr>
          <p:cNvSpPr>
            <a:spLocks xmlns:a="http://schemas.openxmlformats.org/drawingml/2006/main" noGrp="1"/>
          </p:cNvSpPr>
          <p:nvPr/>
        </p:nvSpPr>
        <p:spPr>
          <a:xfrm xmlns:a="http://schemas.openxmlformats.org/drawingml/2006/main">
            <a:off x="6572250" y="41719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37DDF5"/>
                </a:solidFill>
                <a:latin typeface="Arial"/>
                <a:ea typeface="Arial"/>
                <a:cs typeface="Arial"/>
              </a:defRPr>
            </a:pPr>
            <a:r>
              <a:rPr sz="1050" b="1">
                <a:solidFill>
                  <a:srgbClr val="37DDF5"/>
                </a:solidFill>
                <a:latin typeface="Arial"/>
                <a:ea typeface="Arial"/>
                <a:cs typeface="Arial"/>
              </a:rPr>
              <a:t>SUGGESTED ACTION</a:t>
            </a:r>
          </a:p>
        </p:txBody>
      </p:sp>
      <p:sp>
        <p:nvSpPr>
          <p:cNvPr id="13" name="">
            <a:extLst xmlns:a="http://schemas.openxmlformats.org/drawingml/2006/main">
              <a:ext uri="{FF2B5EF4-FFF2-40B4-BE49-F238E27FC236}">
                <a16:creationId xmlns:a16="http://schemas.microsoft.com/office/drawing/2014/main" id="{42BB2C30-092C-4C98-8DE6-FB32DB2D57A5}"/>
              </a:ext>
            </a:extLst>
          </p:cNvPr>
          <p:cNvSpPr>
            <a:spLocks xmlns:a="http://schemas.openxmlformats.org/drawingml/2006/main" noGrp="1"/>
          </p:cNvSpPr>
          <p:nvPr/>
        </p:nvSpPr>
        <p:spPr>
          <a:xfrm xmlns:a="http://schemas.openxmlformats.org/drawingml/2006/main">
            <a:off x="6572250" y="4533900"/>
            <a:ext cx="4572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4F8FC"/>
                </a:solidFill>
                <a:latin typeface="Arial"/>
                <a:ea typeface="Arial"/>
                <a:cs typeface="Arial"/>
              </a:defRPr>
            </a:pPr>
            <a:r>
              <a:rPr sz="1650" b="0">
                <a:solidFill>
                  <a:srgbClr val="F4F8FC"/>
                </a:solidFill>
                <a:latin typeface="Arial"/>
                <a:ea typeface="Arial"/>
                <a:cs typeface="Arial"/>
              </a:rPr>
              <a:t>A plain-language direction for value, upgrade, or premium positioning.</a:t>
            </a:r>
          </a:p>
        </p:txBody>
      </p:sp>
    </p:spTree>
    <p:extLst>
      <p:ext uri="{BB962C8B-B14F-4D97-AF65-F5344CB8AC3E}">
        <p14:creationId xmlns:p14="http://schemas.microsoft.com/office/powerpoint/2010/main" val="1741231274"/>
      </p:ext>
    </p:extLst>
  </p:cSld>
</p:sld>
</file>

<file path=ppt/slides/slide5.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2F5D1FA-2421-481C-8129-9CBDF4038398}"/>
              </a:ext>
            </a:extLst>
          </p:cNvPr>
          <p:cNvSpPr>
            <a:spLocks xmlns:a="http://schemas.openxmlformats.org/drawingml/2006/main" noGrp="1"/>
          </p:cNvSpPr>
          <p:nvPr/>
        </p:nvSpPr>
        <p:spPr>
          <a:xfrm xmlns:a="http://schemas.openxmlformats.org/drawingml/2006/main">
            <a:off x="685800" y="40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37DDF5"/>
                </a:solidFill>
                <a:latin typeface="Arial"/>
                <a:ea typeface="Arial"/>
                <a:cs typeface="Arial"/>
              </a:defRPr>
            </a:pPr>
            <a:r>
              <a:rPr sz="1200" b="1">
                <a:solidFill>
                  <a:srgbClr val="37DDF5"/>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42E9079A-D1E9-4388-99BB-7E1573284F52}"/>
              </a:ext>
            </a:extLst>
          </p:cNvPr>
          <p:cNvSpPr>
            <a:spLocks xmlns:a="http://schemas.openxmlformats.org/drawingml/2006/main" noGrp="1"/>
          </p:cNvSpPr>
          <p:nvPr/>
        </p:nvSpPr>
        <p:spPr>
          <a:xfrm xmlns:a="http://schemas.openxmlformats.org/drawingml/2006/main">
            <a:off x="685800" y="809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4F8FC"/>
                </a:solidFill>
                <a:latin typeface="Arial"/>
                <a:ea typeface="Arial"/>
                <a:cs typeface="Arial"/>
              </a:defRPr>
            </a:pPr>
            <a:r>
              <a:rPr sz="2850" b="1">
                <a:solidFill>
                  <a:srgbClr val="F4F8FC"/>
                </a:solidFill>
                <a:latin typeface="Arial"/>
                <a:ea typeface="Arial"/>
                <a:cs typeface="Arial"/>
              </a:rPr>
              <a:t>Model comparison</a:t>
            </a:r>
          </a:p>
        </p:txBody>
      </p:sp>
      <p:sp>
        <p:nvSpPr>
          <p:cNvPr id="3" name="">
            <a:extLst xmlns:a="http://schemas.openxmlformats.org/drawingml/2006/main">
              <a:ext uri="{FF2B5EF4-FFF2-40B4-BE49-F238E27FC236}">
                <a16:creationId xmlns:a16="http://schemas.microsoft.com/office/drawing/2014/main" id="{C50BBEAA-B55E-4FEE-8582-6793BECD26B9}"/>
              </a:ext>
            </a:extLst>
          </p:cNvPr>
          <p:cNvSpPr>
            <a:spLocks xmlns:a="http://schemas.openxmlformats.org/drawingml/2006/main" noGrp="1"/>
          </p:cNvSpPr>
          <p:nvPr/>
        </p:nvSpPr>
        <p:spPr>
          <a:xfrm xmlns:a="http://schemas.openxmlformats.org/drawingml/2006/main">
            <a:off x="704850" y="1457325"/>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The selected approach performed best on customer records kept out of model training</a:t>
            </a:r>
          </a:p>
        </p:txBody>
      </p:sp>
      <p:sp>
        <p:nvSpPr>
          <p:cNvPr id="4" name="">
            <a:extLst xmlns:a="http://schemas.openxmlformats.org/drawingml/2006/main">
              <a:ext uri="{FF2B5EF4-FFF2-40B4-BE49-F238E27FC236}">
                <a16:creationId xmlns:a16="http://schemas.microsoft.com/office/drawing/2014/main" id="{3A3AA8E7-6136-4A11-9386-8407FB0BE838}"/>
              </a:ext>
            </a:extLst>
          </p:cNvPr>
          <p:cNvSpPr>
            <a:spLocks xmlns:a="http://schemas.openxmlformats.org/drawingml/2006/main" noGrp="1"/>
          </p:cNvSpPr>
          <p:nvPr/>
        </p:nvSpPr>
        <p:spPr>
          <a:xfrm xmlns:a="http://schemas.openxmlformats.org/drawingml/2006/main">
            <a:off x="685800" y="6419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Beverage Price Prediction</a:t>
            </a:r>
          </a:p>
        </p:txBody>
      </p:sp>
      <p:sp>
        <p:nvSpPr>
          <p:cNvPr id="5" name="">
            <a:extLst xmlns:a="http://schemas.openxmlformats.org/drawingml/2006/main">
              <a:ext uri="{FF2B5EF4-FFF2-40B4-BE49-F238E27FC236}">
                <a16:creationId xmlns:a16="http://schemas.microsoft.com/office/drawing/2014/main" id="{3FDB572A-0A4C-4D4B-B11D-7327C1393E2A}"/>
              </a:ext>
            </a:extLst>
          </p:cNvPr>
          <p:cNvSpPr>
            <a:spLocks xmlns:a="http://schemas.openxmlformats.org/drawingml/2006/main" noGrp="1"/>
          </p:cNvSpPr>
          <p:nvPr/>
        </p:nvSpPr>
        <p:spPr>
          <a:xfrm xmlns:a="http://schemas.openxmlformats.org/drawingml/2006/main">
            <a:off x="11144250" y="64198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5</a:t>
            </a:r>
          </a:p>
        </p:txBody>
      </p:sp>
      <p:graphicFrame>
        <p:nvGraphicFramePr>
          <p:cNvPr id="15" name="Chart"/>
          <p:cNvGraphicFramePr/>
          <p:nvPr/>
        </p:nvGraphicFramePr>
        <p:xfrm>
          <a:off xmlns:a="http://schemas.openxmlformats.org/drawingml/2006/main" x="876300" y="2133600"/>
          <a:ext xmlns:a="http://schemas.openxmlformats.org/drawingml/2006/main" cx="7429500" cy="3524250"/>
        </p:xfrm>
        <a:graphic xmlns:a="http://schemas.openxmlformats.org/drawingml/2006/main">
          <a:graphicData uri="http://schemas.openxmlformats.org/drawingml/2006/chart">
            <c:chart xmlns:r="http://schemas.openxmlformats.org/officeDocument/2006/relationships" xmlns:c="http://schemas.openxmlformats.org/drawingml/2006/chart" r:id="R6bdb3907b8924e34"/>
          </a:graphicData>
        </a:graphic>
      </p:graphicFrame>
      <p:sp>
        <p:nvSpPr>
          <p:cNvPr id="7" name="">
            <a:extLst xmlns:a="http://schemas.openxmlformats.org/drawingml/2006/main">
              <a:ext uri="{FF2B5EF4-FFF2-40B4-BE49-F238E27FC236}">
                <a16:creationId xmlns:a16="http://schemas.microsoft.com/office/drawing/2014/main" id="{EFC963B3-0012-40DF-8C1B-B5E97BBADA09}"/>
              </a:ext>
            </a:extLst>
          </p:cNvPr>
          <p:cNvSpPr>
            <a:spLocks xmlns:a="http://schemas.openxmlformats.org/drawingml/2006/main" noGrp="1"/>
          </p:cNvSpPr>
          <p:nvPr/>
        </p:nvSpPr>
        <p:spPr>
          <a:xfrm xmlns:a="http://schemas.openxmlformats.org/drawingml/2006/main">
            <a:off x="8858250" y="26670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050" b="1">
                <a:solidFill>
                  <a:srgbClr val="56E3A8"/>
                </a:solidFill>
                <a:latin typeface="Arial"/>
                <a:ea typeface="Arial"/>
                <a:cs typeface="Arial"/>
              </a:defRPr>
            </a:pPr>
            <a:r>
              <a:rPr sz="4050" b="1">
                <a:solidFill>
                  <a:srgbClr val="56E3A8"/>
                </a:solidFill>
                <a:latin typeface="Arial"/>
                <a:ea typeface="Arial"/>
                <a:cs typeface="Arial"/>
              </a:rPr>
              <a:t>92.26%</a:t>
            </a:r>
          </a:p>
        </p:txBody>
      </p:sp>
      <p:sp>
        <p:nvSpPr>
          <p:cNvPr id="8" name="">
            <a:extLst xmlns:a="http://schemas.openxmlformats.org/drawingml/2006/main">
              <a:ext uri="{FF2B5EF4-FFF2-40B4-BE49-F238E27FC236}">
                <a16:creationId xmlns:a16="http://schemas.microsoft.com/office/drawing/2014/main" id="{783A9B6E-F1CD-4858-BE4C-D375DDD51A1C}"/>
              </a:ext>
            </a:extLst>
          </p:cNvPr>
          <p:cNvSpPr>
            <a:spLocks xmlns:a="http://schemas.openxmlformats.org/drawingml/2006/main" noGrp="1"/>
          </p:cNvSpPr>
          <p:nvPr/>
        </p:nvSpPr>
        <p:spPr>
          <a:xfrm xmlns:a="http://schemas.openxmlformats.org/drawingml/2006/main">
            <a:off x="8858250" y="34766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best test accuracy</a:t>
            </a:r>
          </a:p>
        </p:txBody>
      </p:sp>
      <p:sp>
        <p:nvSpPr>
          <p:cNvPr id="9" name="">
            <a:extLst xmlns:a="http://schemas.openxmlformats.org/drawingml/2006/main">
              <a:ext uri="{FF2B5EF4-FFF2-40B4-BE49-F238E27FC236}">
                <a16:creationId xmlns:a16="http://schemas.microsoft.com/office/drawing/2014/main" id="{68237593-6766-4B17-BF59-B88AD9B38317}"/>
              </a:ext>
            </a:extLst>
          </p:cNvPr>
          <p:cNvSpPr>
            <a:spLocks xmlns:a="http://schemas.openxmlformats.org/drawingml/2006/main" noGrp="1"/>
          </p:cNvSpPr>
          <p:nvPr/>
        </p:nvSpPr>
        <p:spPr>
          <a:xfrm xmlns:a="http://schemas.openxmlformats.org/drawingml/2006/main">
            <a:off x="8763000" y="430530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F4F8FC"/>
                </a:solidFill>
                <a:latin typeface="Arial"/>
                <a:ea typeface="Arial"/>
                <a:cs typeface="Arial"/>
              </a:defRPr>
            </a:pPr>
            <a:r>
              <a:rPr sz="1650" b="1">
                <a:solidFill>
                  <a:srgbClr val="F4F8FC"/>
                </a:solidFill>
                <a:latin typeface="Arial"/>
                <a:ea typeface="Arial"/>
                <a:cs typeface="Arial"/>
              </a:rPr>
              <a:t>Selected for the interactive application</a:t>
            </a:r>
          </a:p>
        </p:txBody>
      </p:sp>
    </p:spTree>
    <p:extLst>
      <p:ext uri="{BB962C8B-B14F-4D97-AF65-F5344CB8AC3E}">
        <p14:creationId xmlns:p14="http://schemas.microsoft.com/office/powerpoint/2010/main" val="1768422306"/>
      </p:ext>
    </p:extLst>
  </p:cSld>
</p:sld>
</file>

<file path=ppt/slides/slide6.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6D4D218-C04E-45CB-9BBC-770B0E4B4AB4}"/>
              </a:ext>
            </a:extLst>
          </p:cNvPr>
          <p:cNvSpPr>
            <a:spLocks xmlns:a="http://schemas.openxmlformats.org/drawingml/2006/main" noGrp="1"/>
          </p:cNvSpPr>
          <p:nvPr/>
        </p:nvSpPr>
        <p:spPr>
          <a:xfrm xmlns:a="http://schemas.openxmlformats.org/drawingml/2006/main">
            <a:off x="685800" y="40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37DDF5"/>
                </a:solidFill>
                <a:latin typeface="Arial"/>
                <a:ea typeface="Arial"/>
                <a:cs typeface="Arial"/>
              </a:defRPr>
            </a:pPr>
            <a:r>
              <a:rPr sz="1200" b="1">
                <a:solidFill>
                  <a:srgbClr val="37DDF5"/>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BCF5914B-46CB-4FB7-A625-66E99E98F7C5}"/>
              </a:ext>
            </a:extLst>
          </p:cNvPr>
          <p:cNvSpPr>
            <a:spLocks xmlns:a="http://schemas.openxmlformats.org/drawingml/2006/main" noGrp="1"/>
          </p:cNvSpPr>
          <p:nvPr/>
        </p:nvSpPr>
        <p:spPr>
          <a:xfrm xmlns:a="http://schemas.openxmlformats.org/drawingml/2006/main">
            <a:off x="685800" y="809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4F8FC"/>
                </a:solidFill>
                <a:latin typeface="Arial"/>
                <a:ea typeface="Arial"/>
                <a:cs typeface="Arial"/>
              </a:defRPr>
            </a:pPr>
            <a:r>
              <a:rPr sz="2850" b="1">
                <a:solidFill>
                  <a:srgbClr val="F4F8FC"/>
                </a:solidFill>
                <a:latin typeface="Arial"/>
                <a:ea typeface="Arial"/>
                <a:cs typeface="Arial"/>
              </a:rPr>
              <a:t>Interactive pricing application</a:t>
            </a:r>
          </a:p>
        </p:txBody>
      </p:sp>
      <p:sp>
        <p:nvSpPr>
          <p:cNvPr id="3" name="">
            <a:extLst xmlns:a="http://schemas.openxmlformats.org/drawingml/2006/main">
              <a:ext uri="{FF2B5EF4-FFF2-40B4-BE49-F238E27FC236}">
                <a16:creationId xmlns:a16="http://schemas.microsoft.com/office/drawing/2014/main" id="{1EC1C818-0D98-4F52-BD9E-3BB38195C19A}"/>
              </a:ext>
            </a:extLst>
          </p:cNvPr>
          <p:cNvSpPr>
            <a:spLocks xmlns:a="http://schemas.openxmlformats.org/drawingml/2006/main" noGrp="1"/>
          </p:cNvSpPr>
          <p:nvPr/>
        </p:nvSpPr>
        <p:spPr>
          <a:xfrm xmlns:a="http://schemas.openxmlformats.org/drawingml/2006/main">
            <a:off x="704850" y="1457325"/>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A business user can test customer scenarios and receive an immediate recommendation</a:t>
            </a:r>
          </a:p>
        </p:txBody>
      </p:sp>
      <p:sp>
        <p:nvSpPr>
          <p:cNvPr id="4" name="">
            <a:extLst xmlns:a="http://schemas.openxmlformats.org/drawingml/2006/main">
              <a:ext uri="{FF2B5EF4-FFF2-40B4-BE49-F238E27FC236}">
                <a16:creationId xmlns:a16="http://schemas.microsoft.com/office/drawing/2014/main" id="{598374B9-271E-4A96-B05E-4A805983AEC3}"/>
              </a:ext>
            </a:extLst>
          </p:cNvPr>
          <p:cNvSpPr>
            <a:spLocks xmlns:a="http://schemas.openxmlformats.org/drawingml/2006/main" noGrp="1"/>
          </p:cNvSpPr>
          <p:nvPr/>
        </p:nvSpPr>
        <p:spPr>
          <a:xfrm xmlns:a="http://schemas.openxmlformats.org/drawingml/2006/main">
            <a:off x="685800" y="6419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Beverage Price Prediction</a:t>
            </a:r>
          </a:p>
        </p:txBody>
      </p:sp>
      <p:sp>
        <p:nvSpPr>
          <p:cNvPr id="5" name="">
            <a:extLst xmlns:a="http://schemas.openxmlformats.org/drawingml/2006/main">
              <a:ext uri="{FF2B5EF4-FFF2-40B4-BE49-F238E27FC236}">
                <a16:creationId xmlns:a16="http://schemas.microsoft.com/office/drawing/2014/main" id="{3C3E0E03-E92F-4AA2-B534-48F84CDF0B73}"/>
              </a:ext>
            </a:extLst>
          </p:cNvPr>
          <p:cNvSpPr>
            <a:spLocks xmlns:a="http://schemas.openxmlformats.org/drawingml/2006/main" noGrp="1"/>
          </p:cNvSpPr>
          <p:nvPr/>
        </p:nvSpPr>
        <p:spPr>
          <a:xfrm xmlns:a="http://schemas.openxmlformats.org/drawingml/2006/main">
            <a:off x="11144250" y="64198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1F08AA0F-05D1-4D8D-B0AF-4F7AA7A238F7}"/>
              </a:ext>
            </a:extLst>
          </p:cNvPr>
          <p:cNvSpPr>
            <a:spLocks xmlns:a="http://schemas.openxmlformats.org/drawingml/2006/main" noGrp="1"/>
          </p:cNvSpPr>
          <p:nvPr/>
        </p:nvSpPr>
        <p:spPr>
          <a:xfrm xmlns:a="http://schemas.openxmlformats.org/drawingml/2006/main">
            <a:off x="838200" y="22193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37DDF5"/>
                </a:solidFill>
                <a:latin typeface="Arial"/>
                <a:ea typeface="Arial"/>
                <a:cs typeface="Arial"/>
              </a:defRPr>
            </a:pPr>
            <a:r>
              <a:rPr sz="1050" b="1">
                <a:solidFill>
                  <a:srgbClr val="37DDF5"/>
                </a:solidFill>
                <a:latin typeface="Arial"/>
                <a:ea typeface="Arial"/>
                <a:cs typeface="Arial"/>
              </a:rPr>
              <a:t>INPUT</a:t>
            </a:r>
          </a:p>
        </p:txBody>
      </p:sp>
      <p:sp>
        <p:nvSpPr>
          <p:cNvPr id="7" name="">
            <a:extLst xmlns:a="http://schemas.openxmlformats.org/drawingml/2006/main">
              <a:ext uri="{FF2B5EF4-FFF2-40B4-BE49-F238E27FC236}">
                <a16:creationId xmlns:a16="http://schemas.microsoft.com/office/drawing/2014/main" id="{F4232889-C708-4D4A-A6B5-81ADAA3DCC78}"/>
              </a:ext>
            </a:extLst>
          </p:cNvPr>
          <p:cNvSpPr>
            <a:spLocks xmlns:a="http://schemas.openxmlformats.org/drawingml/2006/main" noGrp="1"/>
          </p:cNvSpPr>
          <p:nvPr/>
        </p:nvSpPr>
        <p:spPr>
          <a:xfrm xmlns:a="http://schemas.openxmlformats.org/drawingml/2006/main">
            <a:off x="838200" y="26193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F4F8FC"/>
                </a:solidFill>
                <a:latin typeface="Arial"/>
                <a:ea typeface="Arial"/>
                <a:cs typeface="Arial"/>
              </a:defRPr>
            </a:pPr>
            <a:r>
              <a:rPr sz="2250" b="1">
                <a:solidFill>
                  <a:srgbClr val="F4F8FC"/>
                </a:solidFill>
                <a:latin typeface="Arial"/>
                <a:ea typeface="Arial"/>
                <a:cs typeface="Arial"/>
              </a:rPr>
              <a:t>Customer profile</a:t>
            </a:r>
          </a:p>
        </p:txBody>
      </p:sp>
      <p:sp>
        <p:nvSpPr>
          <p:cNvPr id="8" name="">
            <a:extLst xmlns:a="http://schemas.openxmlformats.org/drawingml/2006/main">
              <a:ext uri="{FF2B5EF4-FFF2-40B4-BE49-F238E27FC236}">
                <a16:creationId xmlns:a16="http://schemas.microsoft.com/office/drawing/2014/main" id="{89C6238B-080C-4655-9785-2ED1A35DE30D}"/>
              </a:ext>
            </a:extLst>
          </p:cNvPr>
          <p:cNvSpPr>
            <a:spLocks xmlns:a="http://schemas.openxmlformats.org/drawingml/2006/main" noGrp="1"/>
          </p:cNvSpPr>
          <p:nvPr/>
        </p:nvSpPr>
        <p:spPr>
          <a:xfrm xmlns:a="http://schemas.openxmlformats.org/drawingml/2006/main">
            <a:off x="857250" y="3238500"/>
            <a:ext cx="3524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Age and income</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Location and occupation</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Buying frequency</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Brand and channel preferences</a:t>
            </a:r>
          </a:p>
        </p:txBody>
      </p:sp>
      <p:sp>
        <p:nvSpPr>
          <p:cNvPr id="9" name="">
            <a:extLst xmlns:a="http://schemas.openxmlformats.org/drawingml/2006/main">
              <a:ext uri="{FF2B5EF4-FFF2-40B4-BE49-F238E27FC236}">
                <a16:creationId xmlns:a16="http://schemas.microsoft.com/office/drawing/2014/main" id="{BAF04ADA-B4D3-480C-BB81-BB86F45812B1}"/>
              </a:ext>
            </a:extLst>
          </p:cNvPr>
          <p:cNvSpPr>
            <a:spLocks xmlns:a="http://schemas.openxmlformats.org/drawingml/2006/main" noGrp="1"/>
          </p:cNvSpPr>
          <p:nvPr/>
        </p:nvSpPr>
        <p:spPr>
          <a:xfrm xmlns:a="http://schemas.openxmlformats.org/drawingml/2006/main">
            <a:off x="4953000" y="22193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56E3A8"/>
                </a:solidFill>
                <a:latin typeface="Arial"/>
                <a:ea typeface="Arial"/>
                <a:cs typeface="Arial"/>
              </a:defRPr>
            </a:pPr>
            <a:r>
              <a:rPr sz="1050" b="1">
                <a:solidFill>
                  <a:srgbClr val="56E3A8"/>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7F526E0D-B19E-4B17-AE1E-6D4D91E1F5D0}"/>
              </a:ext>
            </a:extLst>
          </p:cNvPr>
          <p:cNvSpPr>
            <a:spLocks xmlns:a="http://schemas.openxmlformats.org/drawingml/2006/main" noGrp="1"/>
          </p:cNvSpPr>
          <p:nvPr/>
        </p:nvSpPr>
        <p:spPr>
          <a:xfrm xmlns:a="http://schemas.openxmlformats.org/drawingml/2006/main">
            <a:off x="4953000" y="261937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F4F8FC"/>
                </a:solidFill>
                <a:latin typeface="Arial"/>
                <a:ea typeface="Arial"/>
                <a:cs typeface="Arial"/>
              </a:defRPr>
            </a:pPr>
            <a:r>
              <a:rPr sz="2250" b="1">
                <a:solidFill>
                  <a:srgbClr val="F4F8FC"/>
                </a:solidFill>
                <a:latin typeface="Arial"/>
                <a:ea typeface="Arial"/>
                <a:cs typeface="Arial"/>
              </a:rPr>
              <a:t>Price recommendation</a:t>
            </a:r>
          </a:p>
        </p:txBody>
      </p:sp>
      <p:sp>
        <p:nvSpPr>
          <p:cNvPr id="11" name="">
            <a:extLst xmlns:a="http://schemas.openxmlformats.org/drawingml/2006/main">
              <a:ext uri="{FF2B5EF4-FFF2-40B4-BE49-F238E27FC236}">
                <a16:creationId xmlns:a16="http://schemas.microsoft.com/office/drawing/2014/main" id="{B22228C5-F49F-4896-A35D-4706BD203520}"/>
              </a:ext>
            </a:extLst>
          </p:cNvPr>
          <p:cNvSpPr>
            <a:spLocks xmlns:a="http://schemas.openxmlformats.org/drawingml/2006/main" noGrp="1"/>
          </p:cNvSpPr>
          <p:nvPr/>
        </p:nvSpPr>
        <p:spPr>
          <a:xfrm xmlns:a="http://schemas.openxmlformats.org/drawingml/2006/main">
            <a:off x="4972050" y="3238500"/>
            <a:ext cx="3524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Recommended price band</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Confidence by price range</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Customer segment</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Suggested positioning action</a:t>
            </a:r>
          </a:p>
        </p:txBody>
      </p:sp>
      <p:sp>
        <p:nvSpPr>
          <p:cNvPr id="12" name="">
            <a:extLst xmlns:a="http://schemas.openxmlformats.org/drawingml/2006/main">
              <a:ext uri="{FF2B5EF4-FFF2-40B4-BE49-F238E27FC236}">
                <a16:creationId xmlns:a16="http://schemas.microsoft.com/office/drawing/2014/main" id="{10F5542D-AAE2-4FA7-92EC-915C9A58FA58}"/>
              </a:ext>
            </a:extLst>
          </p:cNvPr>
          <p:cNvSpPr>
            <a:spLocks xmlns:a="http://schemas.openxmlformats.org/drawingml/2006/main" noGrp="1"/>
          </p:cNvSpPr>
          <p:nvPr/>
        </p:nvSpPr>
        <p:spPr>
          <a:xfrm xmlns:a="http://schemas.openxmlformats.org/drawingml/2006/main">
            <a:off x="9048750" y="22193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9C82F5"/>
                </a:solidFill>
                <a:latin typeface="Arial"/>
                <a:ea typeface="Arial"/>
                <a:cs typeface="Arial"/>
              </a:defRPr>
            </a:pPr>
            <a:r>
              <a:rPr sz="1050" b="1">
                <a:solidFill>
                  <a:srgbClr val="9C82F5"/>
                </a:solidFill>
                <a:latin typeface="Arial"/>
                <a:ea typeface="Arial"/>
                <a:cs typeface="Arial"/>
              </a:rPr>
              <a:t>USE</a:t>
            </a:r>
          </a:p>
        </p:txBody>
      </p:sp>
      <p:sp>
        <p:nvSpPr>
          <p:cNvPr id="13" name="">
            <a:extLst xmlns:a="http://schemas.openxmlformats.org/drawingml/2006/main">
              <a:ext uri="{FF2B5EF4-FFF2-40B4-BE49-F238E27FC236}">
                <a16:creationId xmlns:a16="http://schemas.microsoft.com/office/drawing/2014/main" id="{5C1BD821-89DB-44A8-A7A3-17C1A02E33BE}"/>
              </a:ext>
            </a:extLst>
          </p:cNvPr>
          <p:cNvSpPr>
            <a:spLocks xmlns:a="http://schemas.openxmlformats.org/drawingml/2006/main" noGrp="1"/>
          </p:cNvSpPr>
          <p:nvPr/>
        </p:nvSpPr>
        <p:spPr>
          <a:xfrm xmlns:a="http://schemas.openxmlformats.org/drawingml/2006/main">
            <a:off x="9048750" y="2619375"/>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F4F8FC"/>
                </a:solidFill>
                <a:latin typeface="Arial"/>
                <a:ea typeface="Arial"/>
                <a:cs typeface="Arial"/>
              </a:defRPr>
            </a:pPr>
            <a:r>
              <a:rPr sz="2250" b="1">
                <a:solidFill>
                  <a:srgbClr val="F4F8FC"/>
                </a:solidFill>
                <a:latin typeface="Arial"/>
                <a:ea typeface="Arial"/>
                <a:cs typeface="Arial"/>
              </a:rPr>
              <a:t>Planning discussion</a:t>
            </a:r>
          </a:p>
        </p:txBody>
      </p:sp>
      <p:sp>
        <p:nvSpPr>
          <p:cNvPr id="14" name="">
            <a:extLst xmlns:a="http://schemas.openxmlformats.org/drawingml/2006/main">
              <a:ext uri="{FF2B5EF4-FFF2-40B4-BE49-F238E27FC236}">
                <a16:creationId xmlns:a16="http://schemas.microsoft.com/office/drawing/2014/main" id="{1D4E325D-F301-4F38-8591-C229A527911B}"/>
              </a:ext>
            </a:extLst>
          </p:cNvPr>
          <p:cNvSpPr>
            <a:spLocks xmlns:a="http://schemas.openxmlformats.org/drawingml/2006/main" noGrp="1"/>
          </p:cNvSpPr>
          <p:nvPr/>
        </p:nvSpPr>
        <p:spPr>
          <a:xfrm xmlns:a="http://schemas.openxmlformats.org/drawingml/2006/main">
            <a:off x="9067800" y="3524250"/>
            <a:ext cx="24765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Compare segments</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Test offer ideas</a:t>
            </a:r>
          </a:p>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Align pricing messages with the customer profile</a:t>
            </a:r>
          </a:p>
        </p:txBody>
      </p:sp>
      <p:sp>
        <p:nvSpPr>
          <p:cNvPr id="15" name="">
            <a:extLst xmlns:a="http://schemas.openxmlformats.org/drawingml/2006/main">
              <a:ext uri="{FF2B5EF4-FFF2-40B4-BE49-F238E27FC236}">
                <a16:creationId xmlns:a16="http://schemas.microsoft.com/office/drawing/2014/main" id="{B58B1EA5-93A0-401C-ABFA-DF2805A21D3F}"/>
              </a:ext>
            </a:extLst>
          </p:cNvPr>
          <p:cNvSpPr>
            <a:spLocks xmlns:a="http://schemas.openxmlformats.org/drawingml/2006/main" noGrp="1"/>
          </p:cNvSpPr>
          <p:nvPr/>
        </p:nvSpPr>
        <p:spPr>
          <a:xfrm xmlns:a="http://schemas.openxmlformats.org/drawingml/2006/main">
            <a:off x="857250" y="5572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37DDF5"/>
                </a:solidFill>
                <a:latin typeface="Arial"/>
                <a:ea typeface="Arial"/>
                <a:cs typeface="Arial"/>
              </a:defRPr>
            </a:pPr>
            <a:r>
              <a:rPr sz="1500" b="0">
                <a:solidFill>
                  <a:srgbClr val="37DDF5"/>
                </a:solidFill>
                <a:latin typeface="Arial"/>
                <a:ea typeface="Arial"/>
                <a:cs typeface="Arial"/>
              </a:rPr>
              <a:t>The application uses the highest-performing tested model</a:t>
            </a:r>
          </a:p>
        </p:txBody>
      </p:sp>
    </p:spTree>
    <p:extLst>
      <p:ext uri="{BB962C8B-B14F-4D97-AF65-F5344CB8AC3E}">
        <p14:creationId xmlns:p14="http://schemas.microsoft.com/office/powerpoint/2010/main" val="1825398979"/>
      </p:ext>
    </p:extLst>
  </p:cSld>
</p:sld>
</file>

<file path=ppt/slides/slide7.xml><?xml version="1.0" encoding="utf-8"?>
<p:sld xmlns:p="http://schemas.openxmlformats.org/presentationml/2006/main">
  <p:cSld>
    <p:bg>
      <p:bgPr>
        <a:solidFill xmlns:a="http://schemas.openxmlformats.org/drawingml/2006/main">
          <a:srgbClr val="06101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547D52-C4C9-45EF-82E4-640C67D205DA}"/>
              </a:ext>
            </a:extLst>
          </p:cNvPr>
          <p:cNvSpPr>
            <a:spLocks xmlns:a="http://schemas.openxmlformats.org/drawingml/2006/main" noGrp="1"/>
          </p:cNvSpPr>
          <p:nvPr/>
        </p:nvSpPr>
        <p:spPr>
          <a:xfrm xmlns:a="http://schemas.openxmlformats.org/drawingml/2006/main">
            <a:off x="685800" y="40005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37DDF5"/>
                </a:solidFill>
                <a:latin typeface="Arial"/>
                <a:ea typeface="Arial"/>
                <a:cs typeface="Arial"/>
              </a:defRPr>
            </a:pPr>
            <a:r>
              <a:rPr sz="1200" b="1">
                <a:solidFill>
                  <a:srgbClr val="37DDF5"/>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61B4017E-A3AF-4D70-B4DE-42AF1A636802}"/>
              </a:ext>
            </a:extLst>
          </p:cNvPr>
          <p:cNvSpPr>
            <a:spLocks xmlns:a="http://schemas.openxmlformats.org/drawingml/2006/main" noGrp="1"/>
          </p:cNvSpPr>
          <p:nvPr/>
        </p:nvSpPr>
        <p:spPr>
          <a:xfrm xmlns:a="http://schemas.openxmlformats.org/drawingml/2006/main">
            <a:off x="685800" y="809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F4F8FC"/>
                </a:solidFill>
                <a:latin typeface="Arial"/>
                <a:ea typeface="Arial"/>
                <a:cs typeface="Arial"/>
              </a:defRPr>
            </a:pPr>
            <a:r>
              <a:rPr sz="2850" b="1">
                <a:solidFill>
                  <a:srgbClr val="F4F8FC"/>
                </a:solidFill>
                <a:latin typeface="Arial"/>
                <a:ea typeface="Arial"/>
                <a:cs typeface="Arial"/>
              </a:rPr>
              <a:t>Recommended business use</a:t>
            </a:r>
          </a:p>
        </p:txBody>
      </p:sp>
      <p:sp>
        <p:nvSpPr>
          <p:cNvPr id="3" name="">
            <a:extLst xmlns:a="http://schemas.openxmlformats.org/drawingml/2006/main">
              <a:ext uri="{FF2B5EF4-FFF2-40B4-BE49-F238E27FC236}">
                <a16:creationId xmlns:a16="http://schemas.microsoft.com/office/drawing/2014/main" id="{AA792A10-AD5E-426D-8EAB-2416B3ADADF8}"/>
              </a:ext>
            </a:extLst>
          </p:cNvPr>
          <p:cNvSpPr>
            <a:spLocks xmlns:a="http://schemas.openxmlformats.org/drawingml/2006/main" noGrp="1"/>
          </p:cNvSpPr>
          <p:nvPr/>
        </p:nvSpPr>
        <p:spPr>
          <a:xfrm xmlns:a="http://schemas.openxmlformats.org/drawingml/2006/main">
            <a:off x="704850" y="1457325"/>
            <a:ext cx="10096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93A7BC"/>
                </a:solidFill>
                <a:latin typeface="Arial"/>
                <a:ea typeface="Arial"/>
                <a:cs typeface="Arial"/>
              </a:defRPr>
            </a:pPr>
            <a:r>
              <a:rPr sz="1350" b="0">
                <a:solidFill>
                  <a:srgbClr val="93A7BC"/>
                </a:solidFill>
                <a:latin typeface="Arial"/>
                <a:ea typeface="Arial"/>
                <a:cs typeface="Arial"/>
              </a:rPr>
              <a:t>Begin with controlled decisions, measure customer response, and improve with real sales results</a:t>
            </a:r>
          </a:p>
        </p:txBody>
      </p:sp>
      <p:sp>
        <p:nvSpPr>
          <p:cNvPr id="4" name="">
            <a:extLst xmlns:a="http://schemas.openxmlformats.org/drawingml/2006/main">
              <a:ext uri="{FF2B5EF4-FFF2-40B4-BE49-F238E27FC236}">
                <a16:creationId xmlns:a16="http://schemas.microsoft.com/office/drawing/2014/main" id="{C50F18F8-907B-4ED3-B5E0-37BD237F93C2}"/>
              </a:ext>
            </a:extLst>
          </p:cNvPr>
          <p:cNvSpPr>
            <a:spLocks xmlns:a="http://schemas.openxmlformats.org/drawingml/2006/main" noGrp="1"/>
          </p:cNvSpPr>
          <p:nvPr/>
        </p:nvSpPr>
        <p:spPr>
          <a:xfrm xmlns:a="http://schemas.openxmlformats.org/drawingml/2006/main">
            <a:off x="685800" y="6419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Beverage Price Prediction</a:t>
            </a:r>
          </a:p>
        </p:txBody>
      </p:sp>
      <p:sp>
        <p:nvSpPr>
          <p:cNvPr id="5" name="">
            <a:extLst xmlns:a="http://schemas.openxmlformats.org/drawingml/2006/main">
              <a:ext uri="{FF2B5EF4-FFF2-40B4-BE49-F238E27FC236}">
                <a16:creationId xmlns:a16="http://schemas.microsoft.com/office/drawing/2014/main" id="{D6AE91D1-B12A-439C-B3AD-63DE39D95507}"/>
              </a:ext>
            </a:extLst>
          </p:cNvPr>
          <p:cNvSpPr>
            <a:spLocks xmlns:a="http://schemas.openxmlformats.org/drawingml/2006/main" noGrp="1"/>
          </p:cNvSpPr>
          <p:nvPr/>
        </p:nvSpPr>
        <p:spPr>
          <a:xfrm xmlns:a="http://schemas.openxmlformats.org/drawingml/2006/main">
            <a:off x="11144250" y="641985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a:solidFill>
                  <a:srgbClr val="60778F"/>
                </a:solidFill>
                <a:latin typeface="Arial"/>
                <a:ea typeface="Arial"/>
                <a:cs typeface="Arial"/>
              </a:defRPr>
            </a:pPr>
            <a:r>
              <a:rPr sz="825" b="0">
                <a:solidFill>
                  <a:srgbClr val="60778F"/>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DEA537F3-5610-4AD1-9A2C-A8CECFD7B640}"/>
              </a:ext>
            </a:extLst>
          </p:cNvPr>
          <p:cNvSpPr>
            <a:spLocks xmlns:a="http://schemas.openxmlformats.org/drawingml/2006/main" noGrp="1"/>
          </p:cNvSpPr>
          <p:nvPr/>
        </p:nvSpPr>
        <p:spPr>
          <a:xfrm xmlns:a="http://schemas.openxmlformats.org/drawingml/2006/main">
            <a:off x="904875" y="2333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37DDF5"/>
                </a:solidFill>
                <a:latin typeface="Arial"/>
                <a:ea typeface="Arial"/>
                <a:cs typeface="Arial"/>
              </a:defRPr>
            </a:pPr>
            <a:r>
              <a:rPr sz="3450" b="1">
                <a:solidFill>
                  <a:srgbClr val="37DDF5"/>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F370B25-3F33-4BBB-904F-5C9550A4102D}"/>
              </a:ext>
            </a:extLst>
          </p:cNvPr>
          <p:cNvSpPr>
            <a:spLocks xmlns:a="http://schemas.openxmlformats.org/drawingml/2006/main" noGrp="1"/>
          </p:cNvSpPr>
          <p:nvPr/>
        </p:nvSpPr>
        <p:spPr>
          <a:xfrm xmlns:a="http://schemas.openxmlformats.org/drawingml/2006/main">
            <a:off x="1762125" y="23241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F4F8FC"/>
                </a:solidFill>
                <a:latin typeface="Arial"/>
                <a:ea typeface="Arial"/>
                <a:cs typeface="Arial"/>
              </a:defRPr>
            </a:pPr>
            <a:r>
              <a:rPr sz="2100" b="1">
                <a:solidFill>
                  <a:srgbClr val="F4F8FC"/>
                </a:solidFill>
                <a:latin typeface="Arial"/>
                <a:ea typeface="Arial"/>
                <a:cs typeface="Arial"/>
              </a:rPr>
              <a:t>Use for planning</a:t>
            </a:r>
          </a:p>
        </p:txBody>
      </p:sp>
      <p:sp>
        <p:nvSpPr>
          <p:cNvPr id="8" name="">
            <a:extLst xmlns:a="http://schemas.openxmlformats.org/drawingml/2006/main">
              <a:ext uri="{FF2B5EF4-FFF2-40B4-BE49-F238E27FC236}">
                <a16:creationId xmlns:a16="http://schemas.microsoft.com/office/drawing/2014/main" id="{21D8BA18-30BA-4114-99FD-ECE30A8ACC29}"/>
              </a:ext>
            </a:extLst>
          </p:cNvPr>
          <p:cNvSpPr>
            <a:spLocks xmlns:a="http://schemas.openxmlformats.org/drawingml/2006/main" noGrp="1"/>
          </p:cNvSpPr>
          <p:nvPr/>
        </p:nvSpPr>
        <p:spPr>
          <a:xfrm xmlns:a="http://schemas.openxmlformats.org/drawingml/2006/main">
            <a:off x="1762125" y="278130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Compare customer segments and shape pricing messages before launch.</a:t>
            </a:r>
          </a:p>
        </p:txBody>
      </p:sp>
      <p:sp>
        <p:nvSpPr>
          <p:cNvPr id="9" name="">
            <a:extLst xmlns:a="http://schemas.openxmlformats.org/drawingml/2006/main">
              <a:ext uri="{FF2B5EF4-FFF2-40B4-BE49-F238E27FC236}">
                <a16:creationId xmlns:a16="http://schemas.microsoft.com/office/drawing/2014/main" id="{E8D10B36-3033-41CB-9A45-EE86108951E3}"/>
              </a:ext>
            </a:extLst>
          </p:cNvPr>
          <p:cNvSpPr>
            <a:spLocks xmlns:a="http://schemas.openxmlformats.org/drawingml/2006/main" noGrp="1"/>
          </p:cNvSpPr>
          <p:nvPr/>
        </p:nvSpPr>
        <p:spPr>
          <a:xfrm xmlns:a="http://schemas.openxmlformats.org/drawingml/2006/main">
            <a:off x="904875" y="363855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56E3A8"/>
                </a:solidFill>
                <a:latin typeface="Arial"/>
                <a:ea typeface="Arial"/>
                <a:cs typeface="Arial"/>
              </a:defRPr>
            </a:pPr>
            <a:r>
              <a:rPr sz="3450" b="1">
                <a:solidFill>
                  <a:srgbClr val="56E3A8"/>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3B4BF97C-2637-4B34-9E62-2AE82952511C}"/>
              </a:ext>
            </a:extLst>
          </p:cNvPr>
          <p:cNvSpPr>
            <a:spLocks xmlns:a="http://schemas.openxmlformats.org/drawingml/2006/main" noGrp="1"/>
          </p:cNvSpPr>
          <p:nvPr/>
        </p:nvSpPr>
        <p:spPr>
          <a:xfrm xmlns:a="http://schemas.openxmlformats.org/drawingml/2006/main">
            <a:off x="1762125" y="36290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F4F8FC"/>
                </a:solidFill>
                <a:latin typeface="Arial"/>
                <a:ea typeface="Arial"/>
                <a:cs typeface="Arial"/>
              </a:defRPr>
            </a:pPr>
            <a:r>
              <a:rPr sz="2100" b="1">
                <a:solidFill>
                  <a:srgbClr val="F4F8FC"/>
                </a:solidFill>
                <a:latin typeface="Arial"/>
                <a:ea typeface="Arial"/>
                <a:cs typeface="Arial"/>
              </a:rPr>
              <a:t>Test in a controlled campaign</a:t>
            </a:r>
          </a:p>
        </p:txBody>
      </p:sp>
      <p:sp>
        <p:nvSpPr>
          <p:cNvPr id="11" name="">
            <a:extLst xmlns:a="http://schemas.openxmlformats.org/drawingml/2006/main">
              <a:ext uri="{FF2B5EF4-FFF2-40B4-BE49-F238E27FC236}">
                <a16:creationId xmlns:a16="http://schemas.microsoft.com/office/drawing/2014/main" id="{30DA3272-47CE-4E0C-8DEA-673811F3295C}"/>
              </a:ext>
            </a:extLst>
          </p:cNvPr>
          <p:cNvSpPr>
            <a:spLocks xmlns:a="http://schemas.openxmlformats.org/drawingml/2006/main" noGrp="1"/>
          </p:cNvSpPr>
          <p:nvPr/>
        </p:nvSpPr>
        <p:spPr>
          <a:xfrm xmlns:a="http://schemas.openxmlformats.org/drawingml/2006/main">
            <a:off x="1762125" y="40862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Compare predicted acceptance with actual purchases before wider use.</a:t>
            </a:r>
          </a:p>
        </p:txBody>
      </p:sp>
      <p:sp>
        <p:nvSpPr>
          <p:cNvPr id="12" name="">
            <a:extLst xmlns:a="http://schemas.openxmlformats.org/drawingml/2006/main">
              <a:ext uri="{FF2B5EF4-FFF2-40B4-BE49-F238E27FC236}">
                <a16:creationId xmlns:a16="http://schemas.microsoft.com/office/drawing/2014/main" id="{F5F89372-913E-40B4-BB48-4BF7357EE921}"/>
              </a:ext>
            </a:extLst>
          </p:cNvPr>
          <p:cNvSpPr>
            <a:spLocks xmlns:a="http://schemas.openxmlformats.org/drawingml/2006/main" noGrp="1"/>
          </p:cNvSpPr>
          <p:nvPr/>
        </p:nvSpPr>
        <p:spPr>
          <a:xfrm xmlns:a="http://schemas.openxmlformats.org/drawingml/2006/main">
            <a:off x="904875" y="494347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9C82F5"/>
                </a:solidFill>
                <a:latin typeface="Arial"/>
                <a:ea typeface="Arial"/>
                <a:cs typeface="Arial"/>
              </a:defRPr>
            </a:pPr>
            <a:r>
              <a:rPr sz="3450" b="1">
                <a:solidFill>
                  <a:srgbClr val="9C82F5"/>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7AB15C59-5D69-4297-96C0-E62CBB2D0375}"/>
              </a:ext>
            </a:extLst>
          </p:cNvPr>
          <p:cNvSpPr>
            <a:spLocks xmlns:a="http://schemas.openxmlformats.org/drawingml/2006/main" noGrp="1"/>
          </p:cNvSpPr>
          <p:nvPr/>
        </p:nvSpPr>
        <p:spPr>
          <a:xfrm xmlns:a="http://schemas.openxmlformats.org/drawingml/2006/main">
            <a:off x="1762125" y="49339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F4F8FC"/>
                </a:solidFill>
                <a:latin typeface="Arial"/>
                <a:ea typeface="Arial"/>
                <a:cs typeface="Arial"/>
              </a:defRPr>
            </a:pPr>
            <a:r>
              <a:rPr sz="2100" b="1">
                <a:solidFill>
                  <a:srgbClr val="F4F8FC"/>
                </a:solidFill>
                <a:latin typeface="Arial"/>
                <a:ea typeface="Arial"/>
                <a:cs typeface="Arial"/>
              </a:rPr>
              <a:t>Refresh with sales evidence</a:t>
            </a:r>
          </a:p>
        </p:txBody>
      </p:sp>
      <p:sp>
        <p:nvSpPr>
          <p:cNvPr id="14" name="">
            <a:extLst xmlns:a="http://schemas.openxmlformats.org/drawingml/2006/main">
              <a:ext uri="{FF2B5EF4-FFF2-40B4-BE49-F238E27FC236}">
                <a16:creationId xmlns:a16="http://schemas.microsoft.com/office/drawing/2014/main" id="{C312AF9A-1A08-4AA3-93EA-7A24D3D14772}"/>
              </a:ext>
            </a:extLst>
          </p:cNvPr>
          <p:cNvSpPr>
            <a:spLocks xmlns:a="http://schemas.openxmlformats.org/drawingml/2006/main" noGrp="1"/>
          </p:cNvSpPr>
          <p:nvPr/>
        </p:nvSpPr>
        <p:spPr>
          <a:xfrm xmlns:a="http://schemas.openxmlformats.org/drawingml/2006/main">
            <a:off x="1762125" y="5391150"/>
            <a:ext cx="885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93A7BC"/>
                </a:solidFill>
                <a:latin typeface="Arial"/>
                <a:ea typeface="Arial"/>
                <a:cs typeface="Arial"/>
              </a:defRPr>
            </a:pPr>
            <a:r>
              <a:rPr sz="1575" b="0">
                <a:solidFill>
                  <a:srgbClr val="93A7BC"/>
                </a:solidFill>
                <a:latin typeface="Arial"/>
                <a:ea typeface="Arial"/>
                <a:cs typeface="Arial"/>
              </a:rPr>
              <a:t>Use new campaign outcomes to keep recommendations aligned with the market.</a:t>
            </a:r>
          </a:p>
        </p:txBody>
      </p:sp>
    </p:spTree>
    <p:extLst>
      <p:ext uri="{BB962C8B-B14F-4D97-AF65-F5344CB8AC3E}">
        <p14:creationId xmlns:p14="http://schemas.microsoft.com/office/powerpoint/2010/main" val="1091505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2026-10-03T12:21:06.2940000Z</dcterms:created>
  <dcterms:modified xsi:type="dcterms:W3CDTF">2026-10-03T12:21:06.2940000Z</dcterms:modified>
</coreProperties>
</file>